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ee3bad98464c81" /><Relationship Type="http://schemas.openxmlformats.org/officeDocument/2006/relationships/extended-properties" Target="/docProps/app.xml" Id="R5c6596ad98c74e28" /><Relationship Type="http://schemas.openxmlformats.org/officeDocument/2006/relationships/officeDocument" Target="/ppt/presentation.xml" Id="Rca1d92e5c3d841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2046ef512c4ff0"/>
  </p:sldMasterIdLst>
  <p:notesMasterIdLst>
    <p:notesMasterId xmlns:r="http://schemas.openxmlformats.org/officeDocument/2006/relationships" r:id="R3f743fa8e3164f6d"/>
  </p:notesMasterIdLst>
  <p:sldIdLst>
    <p:sldId xmlns:r="http://schemas.openxmlformats.org/officeDocument/2006/relationships" id="256" r:id="R26ad9d29f46c41f2"/>
    <p:sldId xmlns:r="http://schemas.openxmlformats.org/officeDocument/2006/relationships" id="257" r:id="Rd6d288313eb848c5"/>
    <p:sldId xmlns:r="http://schemas.openxmlformats.org/officeDocument/2006/relationships" id="258" r:id="R5d9ac58e8bc04adc"/>
    <p:sldId xmlns:r="http://schemas.openxmlformats.org/officeDocument/2006/relationships" id="259" r:id="R8a5f2bcb8a784d23"/>
    <p:sldId xmlns:r="http://schemas.openxmlformats.org/officeDocument/2006/relationships" id="260" r:id="R3c83ca966c464475"/>
    <p:sldId xmlns:r="http://schemas.openxmlformats.org/officeDocument/2006/relationships" id="261" r:id="R7894ee466a2e4c4c"/>
    <p:sldId xmlns:r="http://schemas.openxmlformats.org/officeDocument/2006/relationships" id="262" r:id="Rab832f7036f64ad9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eecd8611fa4da9" /><Relationship Type="http://schemas.openxmlformats.org/officeDocument/2006/relationships/slideMaster" Target="/ppt/slideMasters/slideMaster1.xml" Id="R552046ef512c4ff0" /><Relationship Type="http://schemas.openxmlformats.org/officeDocument/2006/relationships/notesMaster" Target="/ppt/notesMasters/notesMaster1.xml" Id="R3f743fa8e3164f6d" /><Relationship Type="http://schemas.openxmlformats.org/officeDocument/2006/relationships/presProps" Target="/ppt/presProps.xml" Id="R0c5c26399d414591" /><Relationship Type="http://schemas.openxmlformats.org/officeDocument/2006/relationships/tableStyles" Target="/ppt/tableStyles.xml" Id="R1a0cf26cf0d344e8" /><Relationship Type="http://schemas.openxmlformats.org/officeDocument/2006/relationships/slide" Target="/ppt/slides/slide1.xml" Id="R26ad9d29f46c41f2" /><Relationship Type="http://schemas.openxmlformats.org/officeDocument/2006/relationships/slide" Target="/ppt/slides/slide2.xml" Id="Rd6d288313eb848c5" /><Relationship Type="http://schemas.openxmlformats.org/officeDocument/2006/relationships/slide" Target="/ppt/slides/slide3.xml" Id="R5d9ac58e8bc04adc" /><Relationship Type="http://schemas.openxmlformats.org/officeDocument/2006/relationships/slide" Target="/ppt/slides/slide4.xml" Id="R8a5f2bcb8a784d23" /><Relationship Type="http://schemas.openxmlformats.org/officeDocument/2006/relationships/slide" Target="/ppt/slides/slide5.xml" Id="R3c83ca966c464475" /><Relationship Type="http://schemas.openxmlformats.org/officeDocument/2006/relationships/slide" Target="/ppt/slides/slide6.xml" Id="R7894ee466a2e4c4c" /><Relationship Type="http://schemas.openxmlformats.org/officeDocument/2006/relationships/slide" Target="/ppt/slides/slide7.xml" Id="Rab832f7036f64a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214d6de8f843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ee923f88bc4394" /><Relationship Type="http://schemas.openxmlformats.org/officeDocument/2006/relationships/notesMaster" Target="/ppt/notesMasters/notesMaster1.xml" Id="R5e76207d526f49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96c47e87d846c6" /><Relationship Type="http://schemas.openxmlformats.org/officeDocument/2006/relationships/notesMaster" Target="/ppt/notesMasters/notesMaster1.xml" Id="Rf41f3068129b4e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b88c42ea104ea9" /><Relationship Type="http://schemas.openxmlformats.org/officeDocument/2006/relationships/notesMaster" Target="/ppt/notesMasters/notesMaster1.xml" Id="Rcfe9012e23c14c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8c753fe9404ea5" /><Relationship Type="http://schemas.openxmlformats.org/officeDocument/2006/relationships/notesMaster" Target="/ppt/notesMasters/notesMaster1.xml" Id="R0c4376e608b3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ce865f986d4e4e" /><Relationship Type="http://schemas.openxmlformats.org/officeDocument/2006/relationships/notesMaster" Target="/ppt/notesMasters/notesMaster1.xml" Id="Rdd49a8ad4e5a43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20df00701c4146" /><Relationship Type="http://schemas.openxmlformats.org/officeDocument/2006/relationships/notesMaster" Target="/ppt/notesMasters/notesMaster1.xml" Id="Rd31b92f7747648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43857f49f940b5" /><Relationship Type="http://schemas.openxmlformats.org/officeDocument/2006/relationships/notesMaster" Target="/ppt/notesMasters/notesMaster1.xml" Id="Re7e1d8492d4b40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research question; no observed participant accounts.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Sensitising concepts for a planned study, not established categories derived from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Recruitment, consent and analysis have not occurred. No device, application or quantitative outcome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procedures; local review and participant agreement remain necessary.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author/contact. No empirical participant data or citations to real studies.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3fdf8201c4d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865b0c5f24c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1cf492d0544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c5a23949c45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93d09488d46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b73cf685d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EF9664-170F-4839-99D8-B030EF28C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5ED80C-DC86-4513-B99F-31444DDA85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24B06C-6244-49E9-A4A8-D1A78D3274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A1A4F6-C456-4E2C-B8BF-14FFE27BCF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C9A5D1-4940-4316-BD75-A7360398DE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C8F15D-6B53-497B-8F76-BB17AF5A8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35467B-FEBF-4A18-9930-F0A11BD7CA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3505A2-B3A1-4701-8353-3E5081F2A1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F7755D-1C8D-4D3D-B210-88189DC73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D46D19-DB77-457C-BDF5-34397898D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73cbad66154647" /><Relationship Type="http://schemas.openxmlformats.org/officeDocument/2006/relationships/slideLayout" Target="/ppt/slideLayouts/slideLayout1.xml" Id="R5be84e0f000348d3" /><Relationship Type="http://schemas.openxmlformats.org/officeDocument/2006/relationships/slideLayout" Target="/ppt/slideLayouts/slideLayout2.xml" Id="Raae2ef5b038f4962" /><Relationship Type="http://schemas.openxmlformats.org/officeDocument/2006/relationships/slideLayout" Target="/ppt/slideLayouts/slideLayout3.xml" Id="R6f14f1b6cead4e6b" /><Relationship Type="http://schemas.openxmlformats.org/officeDocument/2006/relationships/slideLayout" Target="/ppt/slideLayouts/slideLayout4.xml" Id="Rd8ae8c72112e4f8d" /><Relationship Type="http://schemas.openxmlformats.org/officeDocument/2006/relationships/slideLayout" Target="/ppt/slideLayouts/slideLayout5.xml" Id="R6ef363ad877c4a78" /><Relationship Type="http://schemas.openxmlformats.org/officeDocument/2006/relationships/slideLayout" Target="/ppt/slideLayouts/slideLayout6.xml" Id="R1883b27cb2b04a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e84e0f000348d3"/>
    <p:sldLayoutId xmlns:r="http://schemas.openxmlformats.org/officeDocument/2006/relationships" id="2147483650" r:id="Raae2ef5b038f4962"/>
    <p:sldLayoutId xmlns:r="http://schemas.openxmlformats.org/officeDocument/2006/relationships" id="2147483651" r:id="R6f14f1b6cead4e6b"/>
    <p:sldLayoutId xmlns:r="http://schemas.openxmlformats.org/officeDocument/2006/relationships" id="2147483652" r:id="Rd8ae8c72112e4f8d"/>
    <p:sldLayoutId xmlns:r="http://schemas.openxmlformats.org/officeDocument/2006/relationships" id="2147483653" r:id="R6ef363ad877c4a78"/>
    <p:sldLayoutId xmlns:r="http://schemas.openxmlformats.org/officeDocument/2006/relationships" id="2147483654" r:id="R1883b27cb2b04a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6f4ea91e047f5" /><Relationship Type="http://schemas.openxmlformats.org/officeDocument/2006/relationships/image" Target="/ppt/media/image.png" Id="R6a831ee0330c4c3f" /><Relationship Type="http://schemas.openxmlformats.org/officeDocument/2006/relationships/notesSlide" Target="/ppt/notesSlides/notesSlide1.xml" Id="Rd3deee7eec934d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1fc7d72e2487d" /><Relationship Type="http://schemas.openxmlformats.org/officeDocument/2006/relationships/image" Target="/ppt/media/image2.png" Id="Reca3f3de24714fe6" /><Relationship Type="http://schemas.openxmlformats.org/officeDocument/2006/relationships/notesSlide" Target="/ppt/notesSlides/notesSlide2.xml" Id="R67edcad59af14a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3d692f80b4aac" /><Relationship Type="http://schemas.openxmlformats.org/officeDocument/2006/relationships/image" Target="/ppt/media/image3.png" Id="R54b2807d172c45e9" /><Relationship Type="http://schemas.openxmlformats.org/officeDocument/2006/relationships/notesSlide" Target="/ppt/notesSlides/notesSlide3.xml" Id="R02c464d1b11d40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ea4ad946e4911" /><Relationship Type="http://schemas.openxmlformats.org/officeDocument/2006/relationships/image" Target="/ppt/media/image4.png" Id="R55c0e44718f84799" /><Relationship Type="http://schemas.openxmlformats.org/officeDocument/2006/relationships/notesSlide" Target="/ppt/notesSlides/notesSlide4.xml" Id="Rb1b55050a4104e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f7caaf9c74239" /><Relationship Type="http://schemas.openxmlformats.org/officeDocument/2006/relationships/image" Target="/ppt/media/image5.png" Id="Rf0410801a04f44f3" /><Relationship Type="http://schemas.openxmlformats.org/officeDocument/2006/relationships/notesSlide" Target="/ppt/notesSlides/notesSlide5.xml" Id="Rcb5fe808c5194e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30c020eae1498c" /><Relationship Type="http://schemas.openxmlformats.org/officeDocument/2006/relationships/image" Target="/ppt/media/image6.png" Id="Rd909c5e82d66457e" /><Relationship Type="http://schemas.openxmlformats.org/officeDocument/2006/relationships/notesSlide" Target="/ppt/notesSlides/notesSlide6.xml" Id="Rf13d3a5e627b44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0e8ca17894c6a" /><Relationship Type="http://schemas.openxmlformats.org/officeDocument/2006/relationships/image" Target="/ppt/media/image7.png" Id="R258eabee57f04eae" /><Relationship Type="http://schemas.openxmlformats.org/officeDocument/2006/relationships/notesSlide" Target="/ppt/notesSlides/notesSlide7.xml" Id="R1921002cafd340b4" 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role:background|id:cover-band">
            <a:extLst>
              <a:ext uri="{FF2B5EF4-FFF2-40B4-BE49-F238E27FC236}">
                <ns2:creationId id="{FC02CE8C-F38F-4649-9415-7073DC4C8AA0}"/>
              </a:ext>
            </a:extLst>
          </p:cNvPr>
          <p:cNvSpPr>
            <a:spLocks noGrp="1"/>
          </p:cNvSpPr>
          <p:nvPr/>
        </p:nvSpPr>
        <p:spPr>
          <a:xfrm>
            <a:off x="457200" y="1325880"/>
            <a:ext cx="8229600" cy="1325880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2" name="role:title|id:cover-title">
            <a:extLst>
              <a:ext uri="{FF2B5EF4-FFF2-40B4-BE49-F238E27FC236}">
                <ns2:creationId id="{0C005E28-95DD-4363-B1FC-A68DA218FC2D}"/>
              </a:ext>
            </a:extLst>
          </p:cNvPr>
          <p:cNvSpPr>
            <a:spLocks noGrp="1"/>
          </p:cNvSpPr>
          <p:nvPr/>
        </p:nvSpPr>
        <p:spPr>
          <a:xfrm>
            <a:off x="685800" y="1463040"/>
            <a:ext cx="777240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How community archives decide</a:t>
            </a:r>
          </a:p>
          <a:p>
            <a:pPr algn="ctr">
              <a:def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what remains undocumented</a:t>
            </a:r>
          </a:p>
        </p:txBody>
      </p:sp>
      <p:sp>
        <p:nvSpPr>
          <p:cNvPr id="3" name="role:body|id:cover-author">
            <a:extLst>
              <a:ext uri="{FF2B5EF4-FFF2-40B4-BE49-F238E27FC236}">
                <ns2:creationId id="{D4F9A056-47D1-4FB5-AFCC-D0A0E1CA09D1}"/>
              </a:ext>
            </a:extLst>
          </p:cNvPr>
          <p:cNvSpPr>
            <a:spLocks noGrp="1"/>
          </p:cNvSpPr>
          <p:nvPr/>
        </p:nvSpPr>
        <p:spPr>
          <a:xfrm>
            <a:off x="640080" y="3063240"/>
            <a:ext cx="786384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Jamie Patel · Fictional social research group</a:t>
            </a:r>
          </a:p>
        </p:txBody>
      </p:sp>
      <p:sp>
        <p:nvSpPr>
          <p:cNvPr id="4" name="role:body|id:venue">
            <a:extLst>
              <a:ext uri="{FF2B5EF4-FFF2-40B4-BE49-F238E27FC236}">
                <ns2:creationId id="{77E8C118-B203-421A-A644-FF709D78D81F}"/>
              </a:ext>
            </a:extLst>
          </p:cNvPr>
          <p:cNvSpPr>
            <a:spLocks noGrp="1"/>
          </p:cNvSpPr>
          <p:nvPr/>
        </p:nvSpPr>
        <p:spPr>
          <a:xfrm>
            <a:off x="640080" y="548640"/>
            <a:ext cx="786384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Research plan · fictional teaching example</a:t>
            </a:r>
          </a:p>
        </p:txBody>
      </p:sp>
      <p:sp>
        <p:nvSpPr>
          <p:cNvPr id="5" name="role:label|id:fictional">
            <a:extLst>
              <a:ext uri="{FF2B5EF4-FFF2-40B4-BE49-F238E27FC236}">
                <ns2:creationId id="{C7A270FE-53EC-45A5-BA5D-34D64AFB0302}"/>
              </a:ext>
            </a:extLst>
          </p:cNvPr>
          <p:cNvSpPr>
            <a:spLocks noGrp="1"/>
          </p:cNvSpPr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Fictional research plan · no empirical results</a:t>
            </a:r>
          </a:p>
        </p:txBody>
      </p:sp>
      <p:pic>
        <p:nvPicPr>
          <p:cNvPr id="6" name="role:logo|id:logo">
            <a:extLst>
              <a:ext uri="{FF2B5EF4-FFF2-40B4-BE49-F238E27FC236}">
                <ns2:creationId id="{AB1A1E8A-9FF3-49FB-963B-D0E3C9862DF6}"/>
              </a:ext>
            </a:extLst>
          </p:cNvPr>
          <p:cNvPicPr>
            <a:picLocks noChangeAspect="1"/>
          </p:cNvPicPr>
          <p:nvPr/>
        </p:nvPicPr>
        <p:blipFill>
          <a:blip ns3:embed="R6a831ee0330c4c3f"/>
          <a:stretch/>
        </p:blipFill>
        <p:spPr>
          <a:xfrm>
            <a:off x="293522" y="4803343"/>
            <a:ext cx="818388" cy="229821"/>
          </a:xfrm>
          <a:prstGeom prst="rect">
            <a:avLst/>
          </a:prstGeom>
        </p:spPr>
      </p:pic>
      <p:sp>
        <p:nvSpPr>
          <p:cNvPr id="7" name="role:rule|id:cover-rule">
            <a:extLst>
              <a:ext uri="{FF2B5EF4-FFF2-40B4-BE49-F238E27FC236}">
                <ns2:creationId id="{A75F6931-C637-40A2-9D81-B0D7991FB08E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8" name="role:page|id:page">
            <a:extLst>
              <a:ext uri="{FF2B5EF4-FFF2-40B4-BE49-F238E27FC236}">
                <ns2:creationId id="{CA7AFAC4-F2E0-435E-AD9B-07B7680CCE24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</p:spTree>
    <p:extLst>
      <p:ext uri="{BB962C8B-B14F-4D97-AF65-F5344CB8AC3E}">
        <ns4:creationId val="537653891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role:header|id:chapter">
            <a:extLst>
              <a:ext uri="{FF2B5EF4-FFF2-40B4-BE49-F238E27FC236}">
                <ns2:creationId id="{FDB18D8E-F08E-4833-9E5B-07C6B08B406E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Contents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1CB8D7FD-5FA4-4692-9C3E-39AA6DBC60F1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Undocumented community knowledge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29D9C534-BA5B-4215-8156-FA68BEE59A12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Contents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50D877D3-2F4C-4599-9107-DAC8ABBD0A2B}"/>
              </a:ext>
            </a:extLst>
          </p:cNvPr>
          <p:cNvPicPr>
            <a:picLocks noChangeAspect="1"/>
          </p:cNvPicPr>
          <p:nvPr/>
        </p:nvPicPr>
        <p:blipFill>
          <a:blip ns3:embed="Reca3f3de24714fe6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1BB9C915-A60F-43C4-8284-35D27E0A07E0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CBFC1FC9-EAEA-4249-B612-9E5BB9FE96A1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9AB804AE-6F21-4719-823E-0AB1467E5043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8" name="role:body|id:section-0">
            <a:extLst>
              <a:ext uri="{FF2B5EF4-FFF2-40B4-BE49-F238E27FC236}">
                <ns2:creationId id="{80B73C85-099A-467E-B5A2-2EAB51371C7F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70408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01  Question and concepts</a:t>
            </a:r>
          </a:p>
        </p:txBody>
      </p:sp>
      <p:sp>
        <p:nvSpPr>
          <p:cNvPr id="9" name="role:label|id:section-desc-0">
            <a:extLst>
              <a:ext uri="{FF2B5EF4-FFF2-40B4-BE49-F238E27FC236}">
                <ns2:creationId id="{A089BE25-C468-4050-ACD3-83CDD12682F6}"/>
              </a:ext>
            </a:extLst>
          </p:cNvPr>
          <p:cNvSpPr>
            <a:spLocks noGrp="1"/>
          </p:cNvSpPr>
          <p:nvPr/>
        </p:nvSpPr>
        <p:spPr>
          <a:xfrm>
            <a:off x="868680" y="1746504"/>
            <a:ext cx="6629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Distinguish absence from exclusion</a:t>
            </a:r>
          </a:p>
        </p:txBody>
      </p:sp>
      <p:sp>
        <p:nvSpPr>
          <p:cNvPr id="10" name="role:label|id:range-0">
            <a:extLst>
              <a:ext uri="{FF2B5EF4-FFF2-40B4-BE49-F238E27FC236}">
                <ns2:creationId id="{0757FFFA-D85C-43CF-9B0E-37C45116E0C3}"/>
              </a:ext>
            </a:extLst>
          </p:cNvPr>
          <p:cNvSpPr>
            <a:spLocks noGrp="1"/>
          </p:cNvSpPr>
          <p:nvPr/>
        </p:nvSpPr>
        <p:spPr>
          <a:xfrm>
            <a:off x="7772400" y="1353312"/>
            <a:ext cx="914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3–4</a:t>
            </a:r>
          </a:p>
        </p:txBody>
      </p:sp>
      <p:sp>
        <p:nvSpPr>
          <p:cNvPr id="11" name="role:body|id:section-1">
            <a:extLst>
              <a:ext uri="{FF2B5EF4-FFF2-40B4-BE49-F238E27FC236}">
                <ns2:creationId id="{7DDD14CA-EFE1-46C0-AEDF-6AEB3646E763}"/>
              </a:ext>
            </a:extLst>
          </p:cNvPr>
          <p:cNvSpPr>
            <a:spLocks noGrp="1"/>
          </p:cNvSpPr>
          <p:nvPr/>
        </p:nvSpPr>
        <p:spPr>
          <a:xfrm>
            <a:off x="457200" y="2313432"/>
            <a:ext cx="70408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02  Study plan and limits</a:t>
            </a:r>
          </a:p>
        </p:txBody>
      </p:sp>
      <p:sp>
        <p:nvSpPr>
          <p:cNvPr id="12" name="role:label|id:section-desc-1">
            <a:extLst>
              <a:ext uri="{FF2B5EF4-FFF2-40B4-BE49-F238E27FC236}">
                <ns2:creationId id="{27275B83-5651-4D15-828C-4AFB91DA4567}"/>
              </a:ext>
            </a:extLst>
          </p:cNvPr>
          <p:cNvSpPr>
            <a:spLocks noGrp="1"/>
          </p:cNvSpPr>
          <p:nvPr/>
        </p:nvSpPr>
        <p:spPr>
          <a:xfrm>
            <a:off x="868680" y="2706624"/>
            <a:ext cx="6629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Interviews, interpretation and consent</a:t>
            </a:r>
          </a:p>
        </p:txBody>
      </p:sp>
      <p:sp>
        <p:nvSpPr>
          <p:cNvPr id="13" name="role:label|id:range-1">
            <a:extLst>
              <a:ext uri="{FF2B5EF4-FFF2-40B4-BE49-F238E27FC236}">
                <ns2:creationId id="{BC9AD1EB-7720-4050-80A0-98B548E5FE9E}"/>
              </a:ext>
            </a:extLst>
          </p:cNvPr>
          <p:cNvSpPr>
            <a:spLocks noGrp="1"/>
          </p:cNvSpPr>
          <p:nvPr/>
        </p:nvSpPr>
        <p:spPr>
          <a:xfrm>
            <a:off x="7772400" y="2313432"/>
            <a:ext cx="914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5–6</a:t>
            </a:r>
          </a:p>
        </p:txBody>
      </p:sp>
    </p:spTree>
    <p:extLst>
      <p:ext uri="{BB962C8B-B14F-4D97-AF65-F5344CB8AC3E}">
        <ns4:creationId val="27091335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role:header|id:chapter">
            <a:extLst>
              <a:ext uri="{FF2B5EF4-FFF2-40B4-BE49-F238E27FC236}">
                <ns2:creationId id="{BBADC24B-B557-4583-B4AD-92861AD19BB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Question and concepts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F5EBE616-B428-4A84-9388-4A4D68DBA753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Undocumented community knowledge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78335154-5F5D-40C0-90B5-A054C88E37B9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An empty record has several explanations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AA089693-D233-4B36-8A84-AD9B8B185A82}"/>
              </a:ext>
            </a:extLst>
          </p:cNvPr>
          <p:cNvPicPr>
            <a:picLocks noChangeAspect="1"/>
          </p:cNvPicPr>
          <p:nvPr/>
        </p:nvPicPr>
        <p:blipFill>
          <a:blip ns3:embed="R54b2807d172c45e9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E6BAB6FB-E7EF-48F4-965B-049B679BAC7E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0393F1CB-1F14-44A2-AE2A-ABECF687E61B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08A033A2-782E-444E-B745-F63A7D70EC88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8" name="role:body|id:premise">
            <a:extLst>
              <a:ext uri="{FF2B5EF4-FFF2-40B4-BE49-F238E27FC236}">
                <ns2:creationId id="{A6D72791-CA1D-4AA0-8A23-514F64699C6B}"/>
              </a:ext>
            </a:extLst>
          </p:cNvPr>
          <p:cNvSpPr>
            <a:spLocks noGrp="1"/>
          </p:cNvSpPr>
          <p:nvPr/>
        </p:nvSpPr>
        <p:spPr>
          <a:xfrm>
            <a:off x="640080" y="1444752"/>
            <a:ext cx="786384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A missing account does not, by itself, show why it is missing.</a:t>
            </a:r>
          </a:p>
        </p:txBody>
      </p:sp>
      <p:sp>
        <p:nvSpPr>
          <p:cNvPr id="9" name="role:question|id:question">
            <a:extLst>
              <a:ext uri="{FF2B5EF4-FFF2-40B4-BE49-F238E27FC236}">
                <ns2:creationId id="{EDF2ED41-B29C-4089-A52D-888C0DBB5B35}"/>
              </a:ext>
            </a:extLst>
          </p:cNvPr>
          <p:cNvSpPr>
            <a:spLocks noGrp="1"/>
          </p:cNvSpPr>
          <p:nvPr/>
        </p:nvSpPr>
        <p:spPr>
          <a:xfrm>
            <a:off x="640080" y="2221992"/>
            <a:ext cx="7772400" cy="2194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How do contributors decide</a:t>
            </a:r>
          </a:p>
          <a:p>
            <a:pPr algn="l">
              <a:def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what to leave unrecorded?</a:t>
            </a:r>
          </a:p>
        </p:txBody>
      </p:sp>
    </p:spTree>
    <p:extLst>
      <p:ext uri="{BB962C8B-B14F-4D97-AF65-F5344CB8AC3E}">
        <ns4:creationId val="331051847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role:header|id:chapter">
            <a:extLst>
              <a:ext uri="{FF2B5EF4-FFF2-40B4-BE49-F238E27FC236}">
                <ns2:creationId id="{872136A5-8894-4393-9527-A833221CB24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Question and concepts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AF5EF1A8-4025-4148-B87C-0980E2EF4707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Undocumented community knowledge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AF9D8CB5-F132-41DF-98AC-CA5702EAF532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Distinguish possible explanations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979F8684-3932-4722-AA88-D826FB8CFF45}"/>
              </a:ext>
            </a:extLst>
          </p:cNvPr>
          <p:cNvPicPr>
            <a:picLocks noChangeAspect="1"/>
          </p:cNvPicPr>
          <p:nvPr/>
        </p:nvPicPr>
        <p:blipFill>
          <a:blip ns3:embed="R55c0e44718f84799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9680C13F-EA74-43E0-AED5-2F8385DA1E4D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DF48F219-FE69-4619-8241-EFB785B8D713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B24A33E8-7F4F-44D2-95D8-417BA01CBB06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graphicFrame>
        <p:nvGraphicFramePr>
          <p:cNvPr id="8" name="role:table|id:main-table">
            <a:extLst>
              <a:ext uri="{FF2B5EF4-FFF2-40B4-BE49-F238E27FC236}">
                <ns2:creationId id="{7673C38E-DDAB-4889-A17B-75D8DAAB8470}"/>
              </a:ext>
            </a:extLst>
          </p:cNvPr>
          <p:cNvGraphicFramePr/>
          <p:nvPr/>
        </p:nvGraphicFramePr>
        <p:xfrm>
          <a:off x="457200" y="1353312"/>
          <a:ext cx="8229600" cy="310896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  <a:gridCol w="2834640"/>
              </a:tblGrid>
              <a:tr h="77724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1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Concept</a:t>
                      </a:r>
                    </a:p>
                  </a:txBody>
                  <a:tcPr marL="91440" marR="91440" marT="73152" marB="73152" anchor="ctr">
                    <a:lnL w="5715">
                      <a:solidFill>
                        <a:srgbClr val="CCD3C8"/>
                      </a:solidFill>
                      <a:prstDash val="solid"/>
                    </a:lnL>
                    <a:lnR w="5715">
                      <a:solidFill>
                        <a:srgbClr val="CCD3C8"/>
                      </a:solidFill>
                      <a:prstDash val="solid"/>
                    </a:lnR>
                    <a:lnT w="5715">
                      <a:solidFill>
                        <a:srgbClr val="CCD3C8"/>
                      </a:solidFill>
                      <a:prstDash val="solid"/>
                    </a:lnT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4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1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Possible meaning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T w="5715">
                      <a:solidFill>
                        <a:srgbClr val="CCD3C8"/>
                      </a:solidFill>
                      <a:prstDash val="solid"/>
                    </a:lnT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4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1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Evidence to seek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T w="5715">
                      <a:solidFill>
                        <a:srgbClr val="CCD3C8"/>
                      </a:solidFill>
                      <a:prstDash val="solid"/>
                    </a:lnT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4F6F2"/>
                    </a:solidFill>
                  </a:tcPr>
                </a:tc>
              </a:tr>
              <a:tr h="77724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Absence</a:t>
                      </a:r>
                    </a:p>
                  </a:txBody>
                  <a:tcPr marL="91440" marR="91440" marT="73152" marB="73152" anchor="ctr">
                    <a:lnL w="5715">
                      <a:solidFill>
                        <a:srgbClr val="CCD3C8"/>
                      </a:solidFill>
                      <a:prstDash val="solid"/>
                    </a:lnL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 account was collected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Collection history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Withholding</a:t>
                      </a:r>
                    </a:p>
                  </a:txBody>
                  <a:tcPr marL="91440" marR="91440" marT="73152" marB="73152" anchor="ctr">
                    <a:lnL w="5715">
                      <a:solidFill>
                        <a:srgbClr val="CCD3C8"/>
                      </a:solidFill>
                      <a:prstDash val="solid"/>
                    </a:lnL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 contributor chose not to record it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Contributor explanation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Exclusion</a:t>
                      </a:r>
                    </a:p>
                  </a:txBody>
                  <a:tcPr marL="91440" marR="91440" marT="73152" marB="73152" anchor="ctr">
                    <a:lnL w="5715">
                      <a:solidFill>
                        <a:srgbClr val="CCD3C8"/>
                      </a:solidFill>
                      <a:prstDash val="solid"/>
                    </a:lnL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 rule prevented its inclusion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24302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Rule and decision record</a:t>
                      </a:r>
                    </a:p>
                  </a:txBody>
                  <a:tcPr marL="91440" marR="91440" marT="73152" marB="73152" anchor="ctr">
                    <a:lnR w="5715">
                      <a:solidFill>
                        <a:srgbClr val="CCD3C8"/>
                      </a:solidFill>
                      <a:prstDash val="solid"/>
                    </a:lnR>
                    <a:lnB w="5715">
                      <a:solidFill>
                        <a:srgbClr val="CC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4:creationId val="120673575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role:header|id:chapter">
            <a:extLst>
              <a:ext uri="{FF2B5EF4-FFF2-40B4-BE49-F238E27FC236}">
                <ns2:creationId id="{2D909AE9-9705-45F9-9F70-A1FA795F2071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Study plan and limits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94A0FA82-A06B-4DE2-B4E8-1C75C2E0356D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Undocumented community knowledge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E45D9237-C9B6-490E-A86E-9DD51EA786B7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A qualitative study is planned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D4F26D81-CFB4-462D-86F5-AFB37AC2F757}"/>
              </a:ext>
            </a:extLst>
          </p:cNvPr>
          <p:cNvPicPr>
            <a:picLocks noChangeAspect="1"/>
          </p:cNvPicPr>
          <p:nvPr/>
        </p:nvPicPr>
        <p:blipFill>
          <a:blip ns3:embed="Rf0410801a04f44f3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42F48352-BF3C-47EC-B7B5-1C60FB90FB48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AFCE4F0B-874F-4A1D-A004-BD52E7896946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E534C483-D90D-4E90-BB69-D235B51947DA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8" name="role:body|id:block-0">
            <a:extLst>
              <a:ext uri="{FF2B5EF4-FFF2-40B4-BE49-F238E27FC236}">
                <ns2:creationId id="{CC9A99D9-2009-4DFD-B42E-73A9234E0416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8229600" cy="899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Invite archive contributors to discuss a decision they are willing to share.</a:t>
            </a:r>
          </a:p>
        </p:txBody>
      </p:sp>
      <p:sp>
        <p:nvSpPr>
          <p:cNvPr id="9" name="role:body|id:block-1">
            <a:extLst>
              <a:ext uri="{FF2B5EF4-FFF2-40B4-BE49-F238E27FC236}">
                <ns2:creationId id="{4B0681D9-E87A-4741-A696-BFB2D5DCCE8F}"/>
              </a:ext>
            </a:extLst>
          </p:cNvPr>
          <p:cNvSpPr>
            <a:spLocks noGrp="1"/>
          </p:cNvSpPr>
          <p:nvPr/>
        </p:nvSpPr>
        <p:spPr>
          <a:xfrm>
            <a:off x="457200" y="2389632"/>
            <a:ext cx="8229600" cy="899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Compare their explanations with the relevant collection policies.</a:t>
            </a:r>
          </a:p>
        </p:txBody>
      </p:sp>
      <p:sp>
        <p:nvSpPr>
          <p:cNvPr id="10" name="role:body|id:block-2">
            <a:extLst>
              <a:ext uri="{FF2B5EF4-FFF2-40B4-BE49-F238E27FC236}">
                <ns2:creationId id="{8ADACB8A-D3D5-4F8A-84E6-4CFEAC8F81EF}"/>
              </a:ext>
            </a:extLst>
          </p:cNvPr>
          <p:cNvSpPr>
            <a:spLocks noGrp="1"/>
          </p:cNvSpPr>
          <p:nvPr/>
        </p:nvSpPr>
        <p:spPr>
          <a:xfrm>
            <a:off x="457200" y="3425952"/>
            <a:ext cx="8229600" cy="899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Develop interpretations collaboratively and retain disagreements.</a:t>
            </a:r>
          </a:p>
        </p:txBody>
      </p:sp>
    </p:spTree>
    <p:extLst>
      <p:ext uri="{BB962C8B-B14F-4D97-AF65-F5344CB8AC3E}">
        <ns4:creationId val="1506469146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role:header|id:chapter">
            <a:extLst>
              <a:ext uri="{FF2B5EF4-FFF2-40B4-BE49-F238E27FC236}">
                <ns2:creationId id="{4E9CEA9C-8923-4EAF-AFAB-945B790615C1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Study plan and limits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DB139536-A84A-4B16-BD86-3E3EA4729081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Undocumented community knowledge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71148D5E-B93E-4A39-A8F0-BB65B79BEA8B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792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Separate permission to discuss and to</a:t>
            </a:r>
          </a:p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publish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2BD021A7-7DC8-4298-A343-148495F56710}"/>
              </a:ext>
            </a:extLst>
          </p:cNvPr>
          <p:cNvPicPr>
            <a:picLocks noChangeAspect="1"/>
          </p:cNvPicPr>
          <p:nvPr/>
        </p:nvPicPr>
        <p:blipFill>
          <a:blip ns3:embed="Rd909c5e82d66457e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6FF4A8F6-EA43-4496-831E-8CE73BEE68BA}"/>
              </a:ext>
            </a:extLst>
          </p:cNvPr>
          <p:cNvSpPr>
            <a:spLocks noGrp="1"/>
          </p:cNvSpPr>
          <p:nvPr/>
        </p:nvSpPr>
        <p:spPr>
          <a:xfrm>
            <a:off x="457200" y="1505712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6CC9FFE4-F59C-4CB6-BCD1-754E06C68F5D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07E89F1D-14F4-4B1F-B5A4-16A587666810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8" name="role:body|id:condition-title-0">
            <a:extLst>
              <a:ext uri="{FF2B5EF4-FFF2-40B4-BE49-F238E27FC236}">
                <ns2:creationId id="{B0A34DA9-6EDB-46BD-BF0D-46E1A9BA442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97764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Research conversation</a:t>
            </a:r>
          </a:p>
        </p:txBody>
      </p:sp>
      <p:sp>
        <p:nvSpPr>
          <p:cNvPr id="9" name="role:body|id:condition-body-0">
            <a:extLst>
              <a:ext uri="{FF2B5EF4-FFF2-40B4-BE49-F238E27FC236}">
                <ns2:creationId id="{B0C6D649-862A-4093-9AE0-B17BDCB27D02}"/>
              </a:ext>
            </a:extLst>
          </p:cNvPr>
          <p:cNvSpPr>
            <a:spLocks noGrp="1"/>
          </p:cNvSpPr>
          <p:nvPr/>
        </p:nvSpPr>
        <p:spPr>
          <a:xfrm>
            <a:off x="457200" y="2346960"/>
            <a:ext cx="3977640" cy="21153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Participants choose which decisions to discuss.</a:t>
            </a:r>
          </a:p>
          <a:p>
            <a:r>
              <a:t/>
            </a:r>
          </a:p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They may decline a topic.</a:t>
            </a:r>
          </a:p>
        </p:txBody>
      </p:sp>
      <p:sp>
        <p:nvSpPr>
          <p:cNvPr id="10" name="role:body|id:condition-title-1">
            <a:extLst>
              <a:ext uri="{FF2B5EF4-FFF2-40B4-BE49-F238E27FC236}">
                <ns2:creationId id="{8100EE71-D073-4821-907F-98071B425A07}"/>
              </a:ext>
            </a:extLst>
          </p:cNvPr>
          <p:cNvSpPr>
            <a:spLocks noGrp="1"/>
          </p:cNvSpPr>
          <p:nvPr/>
        </p:nvSpPr>
        <p:spPr>
          <a:xfrm>
            <a:off x="4709160" y="1752600"/>
            <a:ext cx="397764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Publication decision</a:t>
            </a:r>
          </a:p>
        </p:txBody>
      </p:sp>
      <p:sp>
        <p:nvSpPr>
          <p:cNvPr id="11" name="role:body|id:condition-body-1">
            <a:extLst>
              <a:ext uri="{FF2B5EF4-FFF2-40B4-BE49-F238E27FC236}">
                <ns2:creationId id="{60380619-2C7C-464C-8883-508D8C2455E5}"/>
              </a:ext>
            </a:extLst>
          </p:cNvPr>
          <p:cNvSpPr>
            <a:spLocks noGrp="1"/>
          </p:cNvSpPr>
          <p:nvPr/>
        </p:nvSpPr>
        <p:spPr>
          <a:xfrm>
            <a:off x="4709160" y="2346960"/>
            <a:ext cx="3977640" cy="21153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Seek separate permission for any quoted account.</a:t>
            </a:r>
          </a:p>
          <a:p>
            <a:r>
              <a:t/>
            </a:r>
          </a:p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Retain anonymity preferences.</a:t>
            </a:r>
          </a:p>
        </p:txBody>
      </p:sp>
    </p:spTree>
    <p:extLst>
      <p:ext uri="{BB962C8B-B14F-4D97-AF65-F5344CB8AC3E}">
        <ns4:creationId val="415031565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role:header|id:chapter">
            <a:extLst>
              <a:ext uri="{FF2B5EF4-FFF2-40B4-BE49-F238E27FC236}">
                <ns2:creationId id="{CFC69C03-54C2-40DE-A9A2-E737E1ED5A48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749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Summary</a:t>
            </a:r>
          </a:p>
        </p:txBody>
      </p:sp>
      <p:sp>
        <p:nvSpPr>
          <p:cNvPr id="2" name="role:header|id:short-title">
            <a:extLst>
              <a:ext uri="{FF2B5EF4-FFF2-40B4-BE49-F238E27FC236}">
                <ns2:creationId id="{5433528A-9E28-42B1-B6BA-DEC1C303746D}"/>
              </a:ext>
            </a:extLst>
          </p:cNvPr>
          <p:cNvSpPr>
            <a:spLocks noGrp="1"/>
          </p:cNvSpPr>
          <p:nvPr/>
        </p:nvSpPr>
        <p:spPr>
          <a:xfrm>
            <a:off x="4389120" y="228600"/>
            <a:ext cx="42976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Undocumented community knowledge</a:t>
            </a:r>
          </a:p>
        </p:txBody>
      </p:sp>
      <p:sp>
        <p:nvSpPr>
          <p:cNvPr id="3" name="role:title|id:title">
            <a:extLst>
              <a:ext uri="{FF2B5EF4-FFF2-40B4-BE49-F238E27FC236}">
                <ns2:creationId id="{475A5009-1D64-4AF5-B43C-8A0DE139F78D}"/>
              </a:ext>
            </a:extLst>
          </p:cNvPr>
          <p:cNvSpPr>
            <a:spLocks noGrp="1"/>
          </p:cNvSpPr>
          <p:nvPr/>
        </p:nvSpPr>
        <p:spPr>
          <a:xfrm>
            <a:off x="457200" y="621792"/>
            <a:ext cx="6903720" cy="3931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Study the decision behind an absent account</a:t>
            </a:r>
          </a:p>
        </p:txBody>
      </p:sp>
      <p:pic>
        <p:nvPicPr>
          <p:cNvPr id="4" name="role:logo|id:logo">
            <a:extLst>
              <a:ext uri="{FF2B5EF4-FFF2-40B4-BE49-F238E27FC236}">
                <ns2:creationId id="{3D04FEC2-EBE1-4FCE-9D7E-BF8A7A91D88D}"/>
              </a:ext>
            </a:extLst>
          </p:cNvPr>
          <p:cNvPicPr>
            <a:picLocks noChangeAspect="1"/>
          </p:cNvPicPr>
          <p:nvPr/>
        </p:nvPicPr>
        <p:blipFill>
          <a:blip ns3:embed="R258eabee57f04eae"/>
          <a:stretch/>
        </p:blipFill>
        <p:spPr>
          <a:xfrm>
            <a:off x="7623353" y="657454"/>
            <a:ext cx="1078992" cy="303005"/>
          </a:xfrm>
          <a:prstGeom prst="rect">
            <a:avLst/>
          </a:prstGeom>
        </p:spPr>
      </p:pic>
      <p:sp>
        <p:nvSpPr>
          <p:cNvPr id="5" name="role:rule|id:title-rule">
            <a:extLst>
              <a:ext uri="{FF2B5EF4-FFF2-40B4-BE49-F238E27FC236}">
                <ns2:creationId id="{D17BA318-355E-4511-BC53-045F43292856}"/>
              </a:ext>
            </a:extLst>
          </p:cNvPr>
          <p:cNvSpPr>
            <a:spLocks noGrp="1"/>
          </p:cNvSpPr>
          <p:nvPr/>
        </p:nvSpPr>
        <p:spPr>
          <a:xfrm>
            <a:off x="457200" y="1105510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rule|id:footer-rule">
            <a:extLst>
              <a:ext uri="{FF2B5EF4-FFF2-40B4-BE49-F238E27FC236}">
                <ns2:creationId id="{E01F4598-C222-438C-8E95-323905B575E2}"/>
              </a:ext>
            </a:extLst>
          </p:cNvPr>
          <p:cNvSpPr>
            <a:spLocks noGrp="1"/>
          </p:cNvSpPr>
          <p:nvPr/>
        </p:nvSpPr>
        <p:spPr>
          <a:xfrm>
            <a:off x="457200" y="4743907"/>
            <a:ext cx="8229600" cy="7315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7" name="role:page|id:page">
            <a:extLst>
              <a:ext uri="{FF2B5EF4-FFF2-40B4-BE49-F238E27FC236}">
                <ns2:creationId id="{44795791-FDA6-41CE-A868-2BFEF56AFEBF}"/>
              </a:ext>
            </a:extLst>
          </p:cNvPr>
          <p:cNvSpPr>
            <a:spLocks noGrp="1"/>
          </p:cNvSpPr>
          <p:nvPr/>
        </p:nvSpPr>
        <p:spPr>
          <a:xfrm>
            <a:off x="8385048" y="4864608"/>
            <a:ext cx="3017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8" name="role:label|id:summary-title">
            <a:extLst>
              <a:ext uri="{FF2B5EF4-FFF2-40B4-BE49-F238E27FC236}">
                <ns2:creationId id="{BE7932AE-569D-4DAD-AC31-B689281F926F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8229600" cy="445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How community archives decide</a:t>
            </a:r>
          </a:p>
          <a:p>
            <a:pPr algn="l">
              <a:def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what remains undocumented</a:t>
            </a:r>
          </a:p>
        </p:txBody>
      </p:sp>
      <p:sp>
        <p:nvSpPr>
          <p:cNvPr id="9" name="role:label|id:summary-author">
            <a:extLst>
              <a:ext uri="{FF2B5EF4-FFF2-40B4-BE49-F238E27FC236}">
                <ns2:creationId id="{D369BE63-2287-4B4D-9A30-4913EE0B3CA2}"/>
              </a:ext>
            </a:extLst>
          </p:cNvPr>
          <p:cNvSpPr>
            <a:spLocks noGrp="1"/>
          </p:cNvSpPr>
          <p:nvPr/>
        </p:nvSpPr>
        <p:spPr>
          <a:xfrm>
            <a:off x="457200" y="1834896"/>
            <a:ext cx="8229600" cy="2316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Jamie Patel · Fictional social research group</a:t>
            </a:r>
          </a:p>
        </p:txBody>
      </p:sp>
      <p:sp>
        <p:nvSpPr>
          <p:cNvPr id="10" name="role:body|id:takeaway-0">
            <a:extLst>
              <a:ext uri="{FF2B5EF4-FFF2-40B4-BE49-F238E27FC236}">
                <ns2:creationId id="{1866F882-9722-4C31-B33F-C97C9018B51E}"/>
              </a:ext>
            </a:extLst>
          </p:cNvPr>
          <p:cNvSpPr>
            <a:spLocks noGrp="1"/>
          </p:cNvSpPr>
          <p:nvPr/>
        </p:nvSpPr>
        <p:spPr>
          <a:xfrm>
            <a:off x="457200" y="2139696"/>
            <a:ext cx="8229600" cy="262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Question: what makes contributors leave an account unrecorded?</a:t>
            </a:r>
          </a:p>
        </p:txBody>
      </p:sp>
      <p:sp>
        <p:nvSpPr>
          <p:cNvPr id="11" name="role:body|id:takeaway-1">
            <a:extLst>
              <a:ext uri="{FF2B5EF4-FFF2-40B4-BE49-F238E27FC236}">
                <ns2:creationId id="{1F8686B8-398C-4A4E-90E5-91670593CF10}"/>
              </a:ext>
            </a:extLst>
          </p:cNvPr>
          <p:cNvSpPr>
            <a:spLocks noGrp="1"/>
          </p:cNvSpPr>
          <p:nvPr/>
        </p:nvSpPr>
        <p:spPr>
          <a:xfrm>
            <a:off x="457200" y="2566416"/>
            <a:ext cx="8229600" cy="262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Method: planned interviews and policy comparison.</a:t>
            </a:r>
          </a:p>
        </p:txBody>
      </p:sp>
      <p:sp>
        <p:nvSpPr>
          <p:cNvPr id="12" name="role:body|id:takeaway-2">
            <a:extLst>
              <a:ext uri="{FF2B5EF4-FFF2-40B4-BE49-F238E27FC236}">
                <ns2:creationId id="{EB5AD94F-C737-494B-A7EC-51920C4BCF50}"/>
              </a:ext>
            </a:extLst>
          </p:cNvPr>
          <p:cNvSpPr>
            <a:spLocks noGrp="1"/>
          </p:cNvSpPr>
          <p:nvPr/>
        </p:nvSpPr>
        <p:spPr>
          <a:xfrm>
            <a:off x="457200" y="2993136"/>
            <a:ext cx="8229600" cy="262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4302C"/>
                </a:solidFill>
                <a:latin typeface="Noto Sans JP"/>
                <a:ea typeface="Noto Sans JP"/>
                <a:cs typeface="Noto Sans JP"/>
              </a:rPr>
              <a:t>Limit: no findings exist yet; the concepts may change.</a:t>
            </a:r>
          </a:p>
        </p:txBody>
      </p:sp>
      <p:sp>
        <p:nvSpPr>
          <p:cNvPr id="13" name="role:label|id:contact">
            <a:extLst>
              <a:ext uri="{FF2B5EF4-FFF2-40B4-BE49-F238E27FC236}">
                <ns2:creationId id="{133C44EA-D2CC-465C-A85E-124894B52367}"/>
              </a:ext>
            </a:extLst>
          </p:cNvPr>
          <p:cNvSpPr>
            <a:spLocks noGrp="1"/>
          </p:cNvSpPr>
          <p:nvPr/>
        </p:nvSpPr>
        <p:spPr>
          <a:xfrm>
            <a:off x="457200" y="4230624"/>
            <a:ext cx="8229600" cy="2316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jamie.patel@example.org</a:t>
            </a:r>
          </a:p>
        </p:txBody>
      </p:sp>
    </p:spTree>
    <p:extLst>
      <p:ext uri="{BB962C8B-B14F-4D97-AF65-F5344CB8AC3E}">
        <ns4:creationId val="1490683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Jamie Patel · Fictional social research group</dc:creator>
  <cp:lastModifiedBy>Jamie Patel · Fictional social research group</cp:lastModifiedBy>
  <dc:title>How community archives decide
what remains undocumented</dc:title>
  <dcterms:created xsi:type="dcterms:W3CDTF">2026-10-20T10:24:08.2970000Z</dcterms:created>
  <dcterms:modified xsi:type="dcterms:W3CDTF">2026-10-20T10:24:08.2970000Z</dcterms:modified>
</cp:coreProperties>
</file>