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e8e9b3314432c" /><Relationship Type="http://schemas.openxmlformats.org/officeDocument/2006/relationships/extended-properties" Target="/docProps/app.xml" Id="Rb5592c91f8b14e72" /><Relationship Type="http://schemas.openxmlformats.org/officeDocument/2006/relationships/officeDocument" Target="/ppt/presentation.xml" Id="Rd5a35a14ed5142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eabc8e295442b8"/>
  </p:sldMasterIdLst>
  <p:notesMasterIdLst>
    <p:notesMasterId xmlns:r="http://schemas.openxmlformats.org/officeDocument/2006/relationships" r:id="Rfdbf013adfb94acd"/>
  </p:notesMasterIdLst>
  <p:sldIdLst>
    <p:sldId xmlns:r="http://schemas.openxmlformats.org/officeDocument/2006/relationships" id="256" r:id="R42d5fb54dd6c4657"/>
    <p:sldId xmlns:r="http://schemas.openxmlformats.org/officeDocument/2006/relationships" id="257" r:id="R643b06b02a5e4527"/>
    <p:sldId xmlns:r="http://schemas.openxmlformats.org/officeDocument/2006/relationships" id="258" r:id="Re80c4bef86054e4e"/>
    <p:sldId xmlns:r="http://schemas.openxmlformats.org/officeDocument/2006/relationships" id="259" r:id="R51b5959c87374c4e"/>
    <p:sldId xmlns:r="http://schemas.openxmlformats.org/officeDocument/2006/relationships" id="260" r:id="Rad0c92f740dd4313"/>
    <p:sldId xmlns:r="http://schemas.openxmlformats.org/officeDocument/2006/relationships" id="261" r:id="Rfffb936c42b3448c"/>
    <p:sldId xmlns:r="http://schemas.openxmlformats.org/officeDocument/2006/relationships" id="262" r:id="Rf66659f80a1c4b49"/>
    <p:sldId xmlns:r="http://schemas.openxmlformats.org/officeDocument/2006/relationships" id="263" r:id="Rac8391ec5ff64220"/>
    <p:sldId xmlns:r="http://schemas.openxmlformats.org/officeDocument/2006/relationships" id="264" r:id="Rc2c822194ec04ef8"/>
    <p:sldId xmlns:r="http://schemas.openxmlformats.org/officeDocument/2006/relationships" id="265" r:id="R05acd0cdebe6496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bd6b56c1e4607" /><Relationship Type="http://schemas.openxmlformats.org/officeDocument/2006/relationships/slideMaster" Target="/ppt/slideMasters/slideMaster1.xml" Id="Rb7eabc8e295442b8" /><Relationship Type="http://schemas.openxmlformats.org/officeDocument/2006/relationships/notesMaster" Target="/ppt/notesMasters/notesMaster1.xml" Id="Rfdbf013adfb94acd" /><Relationship Type="http://schemas.openxmlformats.org/officeDocument/2006/relationships/presProps" Target="/ppt/presProps.xml" Id="Rbceed13a2b00408b" /><Relationship Type="http://schemas.openxmlformats.org/officeDocument/2006/relationships/tableStyles" Target="/ppt/tableStyles.xml" Id="R80cd2451a02846de" /><Relationship Type="http://schemas.openxmlformats.org/officeDocument/2006/relationships/slide" Target="/ppt/slides/slide1.xml" Id="R42d5fb54dd6c4657" /><Relationship Type="http://schemas.openxmlformats.org/officeDocument/2006/relationships/slide" Target="/ppt/slides/slide2.xml" Id="R643b06b02a5e4527" /><Relationship Type="http://schemas.openxmlformats.org/officeDocument/2006/relationships/slide" Target="/ppt/slides/slide3.xml" Id="Re80c4bef86054e4e" /><Relationship Type="http://schemas.openxmlformats.org/officeDocument/2006/relationships/slide" Target="/ppt/slides/slide4.xml" Id="R51b5959c87374c4e" /><Relationship Type="http://schemas.openxmlformats.org/officeDocument/2006/relationships/slide" Target="/ppt/slides/slide5.xml" Id="Rad0c92f740dd4313" /><Relationship Type="http://schemas.openxmlformats.org/officeDocument/2006/relationships/slide" Target="/ppt/slides/slide6.xml" Id="Rfffb936c42b3448c" /><Relationship Type="http://schemas.openxmlformats.org/officeDocument/2006/relationships/slide" Target="/ppt/slides/slide7.xml" Id="Rf66659f80a1c4b49" /><Relationship Type="http://schemas.openxmlformats.org/officeDocument/2006/relationships/slide" Target="/ppt/slides/slide8.xml" Id="Rac8391ec5ff64220" /><Relationship Type="http://schemas.openxmlformats.org/officeDocument/2006/relationships/slide" Target="/ppt/slides/slide9.xml" Id="Rc2c822194ec04ef8" /><Relationship Type="http://schemas.openxmlformats.org/officeDocument/2006/relationships/slide" Target="/ppt/slides/slide10.xml" Id="R05acd0cdebe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0e7e02089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f7c0865274663" /><Relationship Type="http://schemas.openxmlformats.org/officeDocument/2006/relationships/notesMaster" Target="/ppt/notesMasters/notesMaster1.xml" Id="R062a5b016596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8a2e41a89b401b" /><Relationship Type="http://schemas.openxmlformats.org/officeDocument/2006/relationships/notesMaster" Target="/ppt/notesMasters/notesMaster1.xml" Id="Rea72deeb2b3d46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7cdc84a574106" /><Relationship Type="http://schemas.openxmlformats.org/officeDocument/2006/relationships/notesMaster" Target="/ppt/notesMasters/notesMaster1.xml" Id="Ra83ef87bca1842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8cd91eef674688" /><Relationship Type="http://schemas.openxmlformats.org/officeDocument/2006/relationships/notesMaster" Target="/ppt/notesMasters/notesMaster1.xml" Id="R0e7353aa9bae45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e72f3c3c584b7f" /><Relationship Type="http://schemas.openxmlformats.org/officeDocument/2006/relationships/notesMaster" Target="/ppt/notesMasters/notesMaster1.xml" Id="R990deba1a4a945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1dcfb529243bd" /><Relationship Type="http://schemas.openxmlformats.org/officeDocument/2006/relationships/notesMaster" Target="/ppt/notesMasters/notesMaster1.xml" Id="R4310268286b142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bec7a3c834596" /><Relationship Type="http://schemas.openxmlformats.org/officeDocument/2006/relationships/notesMaster" Target="/ppt/notesMasters/notesMaster1.xml" Id="R2b4c57a4366343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12cc8bea9f493d" /><Relationship Type="http://schemas.openxmlformats.org/officeDocument/2006/relationships/notesMaster" Target="/ppt/notesMasters/notesMaster1.xml" Id="R9874f91e049c4d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01e61405d64865" /><Relationship Type="http://schemas.openxmlformats.org/officeDocument/2006/relationships/notesMaster" Target="/ppt/notesMasters/notesMaster1.xml" Id="R103a92270642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9a7bd599e4d38" /><Relationship Type="http://schemas.openxmlformats.org/officeDocument/2006/relationships/notesMaster" Target="/ppt/notesMasters/notesMaster1.xml" Id="Rbdae17d9e1f0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study data and the presenter are fictional. Images are generated concepts, not working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question does not assert an effect on health or battery life.</a:t>
            </a:r>
          </a:p>
          <a:p xmlns:a="http://schemas.openxmlformats.org/drawingml/2006/main">
            <a:r>
              <a:t>[1] Synthetic classroom trace, supplied teaching input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rules, not results of a comparative trial.</a:t>
            </a:r>
          </a:p>
          <a:p xmlns:a="http://schemas.openxmlformats.org/drawingml/2006/main">
            <a:r>
              <a:t>[1] Synthetic teaching specification; alternatives are design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images were created with ImageGen for this fictional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 is illustrative. Its key labels are repeated in editable text outside the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paths are operator-selected alternatives, not randomised experimental arms.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retained representation repeats the last retained reading for display; these repeats are not additional measurements. The synthetic peak is not a safety threshold. No real-world detection claim.</a:t>
            </a:r>
          </a:p>
          <a:p xmlns:a="http://schemas.openxmlformats.org/drawingml/2006/main">
            <a:r>
              <a:t>[1] Synthetic values in input.json; retained values use the last recorded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study. Trace selection and thresholds must be fixed before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hardware, application or energy saving has been validated. Contact details are fictional.</a:t>
            </a:r>
          </a:p>
          <a:p xmlns:a="http://schemas.openxmlformats.org/drawingml/2006/main">
            <a:r>
              <a:t>[1] Synthetic teaching input; no empirical effectiveness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23f85a90845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85770b86542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68219d44c43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d83baed8744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0889538614b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4457760bd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CFE292-2F04-4E62-A420-96456AA5A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B8EAAB-7E36-4222-85E4-990B075316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AFD60F-55E7-4285-880B-7AFB709C0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5D0C6A-6431-4313-86E3-7FAF9431B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4E11E0-6227-44F5-BCB3-22CF56FE1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9A4F7B-6403-4A00-A943-4BC907AC6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2E08F9-6174-4AC3-9820-D26E2D2FDF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16BDED-486D-4564-8778-2E1CF7A6EC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C93EB2-EDAF-4ED3-8F1F-E3DD283BA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D0D011-D26F-4E80-BC89-4A7E559E0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8dff9772fe4e03" /><Relationship Type="http://schemas.openxmlformats.org/officeDocument/2006/relationships/slideLayout" Target="/ppt/slideLayouts/slideLayout1.xml" Id="Rf9242216be294488" /><Relationship Type="http://schemas.openxmlformats.org/officeDocument/2006/relationships/slideLayout" Target="/ppt/slideLayouts/slideLayout2.xml" Id="R43b60c19fcce45b6" /><Relationship Type="http://schemas.openxmlformats.org/officeDocument/2006/relationships/slideLayout" Target="/ppt/slideLayouts/slideLayout3.xml" Id="R2d5acd6179e542f4" /><Relationship Type="http://schemas.openxmlformats.org/officeDocument/2006/relationships/slideLayout" Target="/ppt/slideLayouts/slideLayout4.xml" Id="R9748d255b0544846" /><Relationship Type="http://schemas.openxmlformats.org/officeDocument/2006/relationships/slideLayout" Target="/ppt/slideLayouts/slideLayout5.xml" Id="R4e7b6bec79e7458c" /><Relationship Type="http://schemas.openxmlformats.org/officeDocument/2006/relationships/slideLayout" Target="/ppt/slideLayouts/slideLayout6.xml" Id="R7b8bd1136792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242216be294488"/>
    <p:sldLayoutId xmlns:r="http://schemas.openxmlformats.org/officeDocument/2006/relationships" id="2147483650" r:id="R43b60c19fcce45b6"/>
    <p:sldLayoutId xmlns:r="http://schemas.openxmlformats.org/officeDocument/2006/relationships" id="2147483651" r:id="R2d5acd6179e542f4"/>
    <p:sldLayoutId xmlns:r="http://schemas.openxmlformats.org/officeDocument/2006/relationships" id="2147483652" r:id="R9748d255b0544846"/>
    <p:sldLayoutId xmlns:r="http://schemas.openxmlformats.org/officeDocument/2006/relationships" id="2147483653" r:id="R4e7b6bec79e7458c"/>
    <p:sldLayoutId xmlns:r="http://schemas.openxmlformats.org/officeDocument/2006/relationships" id="2147483654" r:id="R7b8bd1136792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74a08d4244fff" /><Relationship Type="http://schemas.openxmlformats.org/officeDocument/2006/relationships/image" Target="/ppt/media/image.png" Id="Rffc0eec5141b4ae5" /><Relationship Type="http://schemas.openxmlformats.org/officeDocument/2006/relationships/notesSlide" Target="/ppt/notesSlides/notesSlide1.xml" Id="R803a9c12860043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b93999d4f4c55" /><Relationship Type="http://schemas.openxmlformats.org/officeDocument/2006/relationships/image" Target="/ppt/media/image2.png" Id="Raff4962d02504ab6" /><Relationship Type="http://schemas.openxmlformats.org/officeDocument/2006/relationships/notesSlide" Target="/ppt/notesSlides/notesSlide2.xml" Id="Rc0186c21f80140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4405cb26848fe" /><Relationship Type="http://schemas.openxmlformats.org/officeDocument/2006/relationships/image" Target="/ppt/media/image3.png" Id="R27f3b3ead1964fb6" /><Relationship Type="http://schemas.openxmlformats.org/officeDocument/2006/relationships/notesSlide" Target="/ppt/notesSlides/notesSlide3.xml" Id="R1424647d62df43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a95178f184105" /><Relationship Type="http://schemas.openxmlformats.org/officeDocument/2006/relationships/image" Target="/ppt/media/image4.png" Id="R5e4597c48baf43d7" /><Relationship Type="http://schemas.openxmlformats.org/officeDocument/2006/relationships/notesSlide" Target="/ppt/notesSlides/notesSlide4.xml" Id="Rbe4a0920844f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ce7de64de4614" /><Relationship Type="http://schemas.openxmlformats.org/officeDocument/2006/relationships/image" Target="/ppt/media/image5.png" Id="Rd083990b10cd416e" /><Relationship Type="http://schemas.openxmlformats.org/officeDocument/2006/relationships/image" Target="/ppt/media/image6.png" Id="R4d0210a3f35d46df" /><Relationship Type="http://schemas.openxmlformats.org/officeDocument/2006/relationships/image" Target="/ppt/media/image7.png" Id="R0a8b653ab3754611" /><Relationship Type="http://schemas.openxmlformats.org/officeDocument/2006/relationships/notesSlide" Target="/ppt/notesSlides/notesSlide5.xml" Id="Rf163d6be2b5448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a55faaf484e34" /><Relationship Type="http://schemas.openxmlformats.org/officeDocument/2006/relationships/image" Target="/ppt/media/image8.png" Id="Rfc15d88099c74fc0" /><Relationship Type="http://schemas.openxmlformats.org/officeDocument/2006/relationships/image" Target="/ppt/media/image9.png" Id="R307277ba9ded474e" /><Relationship Type="http://schemas.openxmlformats.org/officeDocument/2006/relationships/notesSlide" Target="/ppt/notesSlides/notesSlide6.xml" Id="R1d8ad63085034f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8c99f25c04dda" /><Relationship Type="http://schemas.openxmlformats.org/officeDocument/2006/relationships/image" Target="/ppt/media/image10.png" Id="R0b9ca0227e724dee" /><Relationship Type="http://schemas.openxmlformats.org/officeDocument/2006/relationships/notesSlide" Target="/ppt/notesSlides/notesSlide7.xml" Id="Rf4188fa8f11344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20469ddf84867" /><Relationship Type="http://schemas.openxmlformats.org/officeDocument/2006/relationships/image" Target="/ppt/media/image11.png" Id="Rdf3ea5274e014653" /><Relationship Type="http://schemas.openxmlformats.org/officeDocument/2006/relationships/chart" Target="/ppt/slides/charts/chart1.xml" Id="R6e3fbb12747f4bf9" /><Relationship Type="http://schemas.openxmlformats.org/officeDocument/2006/relationships/notesSlide" Target="/ppt/notesSlides/notesSlide8.xml" Id="R946c4cf2289447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dbd0a733a4749" /><Relationship Type="http://schemas.openxmlformats.org/officeDocument/2006/relationships/image" Target="/ppt/media/image12.png" Id="R3aeed96c58804612" /><Relationship Type="http://schemas.openxmlformats.org/officeDocument/2006/relationships/notesSlide" Target="/ppt/notesSlides/notesSlide9.xml" Id="R0af042cc30ef4f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4f4a794f74176" /><Relationship Type="http://schemas.openxmlformats.org/officeDocument/2006/relationships/image" Target="/ppt/media/image13.png" Id="Rb8af43b092ac4541" /><Relationship Type="http://schemas.openxmlformats.org/officeDocument/2006/relationships/notesSlide" Target="/ppt/notesSlides/notesSlide10.xml" Id="R008bbf55147345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All samples</c:v>
          </c:tx>
          <c:spPr>
            <a:solidFill xmlns:a="http://schemas.openxmlformats.org/drawingml/2006/main">
              <a:srgbClr val="A6B1B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0 min</c:v>
                </c:pt>
                <c:pt idx="1">
                  <c:v>1 min</c:v>
                </c:pt>
                <c:pt idx="2">
                  <c:v>2 min</c:v>
                </c:pt>
                <c:pt idx="3">
                  <c:v>3 min</c:v>
                </c:pt>
                <c:pt idx="4">
                  <c:v>4 min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630</c:v>
                </c:pt>
                <c:pt idx="1">
                  <c:v>720</c:v>
                </c:pt>
                <c:pt idx="2">
                  <c:v>1140</c:v>
                </c:pt>
                <c:pt idx="3">
                  <c:v>760</c:v>
                </c:pt>
                <c:pt idx="4">
                  <c:v>650</c:v>
                </c:pt>
              </c:numCache>
            </c:numRef>
          </c:val>
        </c:ser>
        <c:ser>
          <c:idx val="1"/>
          <c:order val="1"/>
          <c:tx>
            <c:v>Retained representation</c:v>
          </c:tx>
          <c:spPr>
            <a:solidFill xmlns:a="http://schemas.openxmlformats.org/drawingml/2006/main">
              <a:srgbClr val="7D9D69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0 min</c:v>
                </c:pt>
                <c:pt idx="1">
                  <c:v>1 min</c:v>
                </c:pt>
                <c:pt idx="2">
                  <c:v>2 min</c:v>
                </c:pt>
                <c:pt idx="3">
                  <c:v>3 min</c:v>
                </c:pt>
                <c:pt idx="4">
                  <c:v>4 min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630</c:v>
                </c:pt>
                <c:pt idx="1">
                  <c:v>630</c:v>
                </c:pt>
                <c:pt idx="2">
                  <c:v>630</c:v>
                </c:pt>
                <c:pt idx="3">
                  <c:v>760</c:v>
                </c:pt>
                <c:pt idx="4">
                  <c:v>760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9636E"/>
                    </a:solidFill>
                    <a:latin typeface="Noto Sans JP"/>
                    <a:ea typeface="Noto Sans JP"/>
                    <a:cs typeface="Noto Sans JP"/>
                  </a:rPr>
                  <a:t>Synthetic concentration [ppm]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9636E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4302C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role:background|id:cover-band">
            <a:extLst>
              <a:ext uri="{FF2B5EF4-FFF2-40B4-BE49-F238E27FC236}">
                <ns2:creationId id="{499BBBBD-F737-4D1F-9B28-E1C4318761EE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8229600" cy="132588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2" name="role:title|id:cover-title">
            <a:extLst>
              <a:ext uri="{FF2B5EF4-FFF2-40B4-BE49-F238E27FC236}">
                <ns2:creationId id="{B62F7906-63AA-4569-87D2-AE005F8E8479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777240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  <a:p>
            <a: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in classroom air</a:t>
            </a:r>
          </a:p>
        </p:txBody>
      </p:sp>
      <p:sp>
        <p:nvSpPr>
          <p:cNvPr id="3" name="role:body|id:cover-author">
            <a:extLst>
              <a:ext uri="{FF2B5EF4-FFF2-40B4-BE49-F238E27FC236}">
                <ns2:creationId id="{9822F72B-FF48-43C4-9082-AB4AF17C2924}"/>
              </a:ext>
            </a:extLst>
          </p:cNvPr>
          <p:cNvSpPr>
            <a:spLocks noGrp="1"/>
          </p:cNvSpPr>
          <p:nvPr/>
        </p:nvSpPr>
        <p:spPr>
          <a:xfrm>
            <a:off x="640080" y="3063240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Alex Morgan · Fictional methods laboratory</a:t>
            </a:r>
          </a:p>
        </p:txBody>
      </p:sp>
      <p:sp>
        <p:nvSpPr>
          <p:cNvPr id="4" name="role:body|id:venue">
            <a:extLst>
              <a:ext uri="{FF2B5EF4-FFF2-40B4-BE49-F238E27FC236}">
                <ns2:creationId id="{35D50E1A-D86A-4230-8F6E-820C9129E55A}"/>
              </a:ext>
            </a:extLst>
          </p:cNvPr>
          <p:cNvSpPr>
            <a:spLocks noGrp="1"/>
          </p:cNvSpPr>
          <p:nvPr/>
        </p:nvSpPr>
        <p:spPr>
          <a:xfrm>
            <a:off x="640080" y="548640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Short research talk · synthetic teaching example</a:t>
            </a:r>
          </a:p>
        </p:txBody>
      </p:sp>
      <p:sp>
        <p:nvSpPr>
          <p:cNvPr id="5" name="role:label|id:fictional">
            <a:extLst>
              <a:ext uri="{FF2B5EF4-FFF2-40B4-BE49-F238E27FC236}">
                <ns2:creationId id="{3651FE4B-4E7F-4F0E-8519-60CA44A9F614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Fictional study · synthetic data · concept images</a:t>
            </a:r>
          </a:p>
        </p:txBody>
      </p:sp>
      <p:pic>
        <p:nvPicPr>
          <p:cNvPr id="6" name="role:logo|id:logo">
            <a:extLst>
              <a:ext uri="{FF2B5EF4-FFF2-40B4-BE49-F238E27FC236}">
                <ns2:creationId id="{D057679A-1C51-4435-A0BC-6B235A8F7A82}"/>
              </a:ext>
            </a:extLst>
          </p:cNvPr>
          <p:cNvPicPr>
            <a:picLocks noChangeAspect="1"/>
          </p:cNvPicPr>
          <p:nvPr/>
        </p:nvPicPr>
        <p:blipFill>
          <a:blip ns3:embed="Rffc0eec5141b4ae5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7" name="role:rule|id:cover-rule">
            <a:extLst>
              <a:ext uri="{FF2B5EF4-FFF2-40B4-BE49-F238E27FC236}">
                <ns2:creationId id="{9F554222-FB0C-45FA-9768-B3A45941C3F1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8" name="role:page|id:page">
            <a:extLst>
              <a:ext uri="{FF2B5EF4-FFF2-40B4-BE49-F238E27FC236}">
                <ns2:creationId id="{3E89C6AE-DB82-421F-8772-414F4EA794FB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</p:spTree>
    <p:extLst>
      <p:ext uri="{BB962C8B-B14F-4D97-AF65-F5344CB8AC3E}">
        <ns4:creationId val="49010292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role:header|id:chapter">
            <a:extLst>
              <a:ext uri="{FF2B5EF4-FFF2-40B4-BE49-F238E27FC236}">
                <ns2:creationId id="{03BDF076-C1C6-4CAD-9989-35A231B2465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Contents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F4A54C7D-A00A-4528-8E8C-AC0A5085A084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A00332AB-C5EC-4A19-AF29-65A646D0A4E5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Contents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BD8365AF-625C-4516-9511-0454B4A1016D}"/>
              </a:ext>
            </a:extLst>
          </p:cNvPr>
          <p:cNvPicPr>
            <a:picLocks noChangeAspect="1"/>
          </p:cNvPicPr>
          <p:nvPr/>
        </p:nvPicPr>
        <p:blipFill>
          <a:blip ns3:embed="Raff4962d02504ab6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9E62A40D-CBA0-42F6-A1B4-0C2868319A01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6EC1A4B7-D86A-416A-832E-1A1717551D4A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27F332F4-0C21-42D4-BE9E-E1A7032BDF0B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8" name="role:body|id:section-0">
            <a:extLst>
              <a:ext uri="{FF2B5EF4-FFF2-40B4-BE49-F238E27FC236}">
                <ns2:creationId id="{85B957A5-297C-400F-A15D-B6BCAA6078CD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70408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01  Question and alternatives</a:t>
            </a:r>
          </a:p>
        </p:txBody>
      </p:sp>
      <p:sp>
        <p:nvSpPr>
          <p:cNvPr id="9" name="role:label|id:section-desc-0">
            <a:extLst>
              <a:ext uri="{FF2B5EF4-FFF2-40B4-BE49-F238E27FC236}">
                <ns2:creationId id="{DDC96243-314D-4B4B-9419-175368478F0B}"/>
              </a:ext>
            </a:extLst>
          </p:cNvPr>
          <p:cNvSpPr>
            <a:spLocks noGrp="1"/>
          </p:cNvSpPr>
          <p:nvPr/>
        </p:nvSpPr>
        <p:spPr>
          <a:xfrm>
            <a:off x="868680" y="1746504"/>
            <a:ext cx="6629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What a sparse log can miss</a:t>
            </a:r>
          </a:p>
        </p:txBody>
      </p:sp>
      <p:sp>
        <p:nvSpPr>
          <p:cNvPr id="10" name="role:label|id:range-0">
            <a:extLst>
              <a:ext uri="{FF2B5EF4-FFF2-40B4-BE49-F238E27FC236}">
                <ns2:creationId id="{7D5CF54F-7303-4E4E-A3EF-77FC797ADB3A}"/>
              </a:ext>
            </a:extLst>
          </p:cNvPr>
          <p:cNvSpPr>
            <a:spLocks noGrp="1"/>
          </p:cNvSpPr>
          <p:nvPr/>
        </p:nvSpPr>
        <p:spPr>
          <a:xfrm>
            <a:off x="7772400" y="1353312"/>
            <a:ext cx="914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3–4</a:t>
            </a:r>
          </a:p>
        </p:txBody>
      </p:sp>
      <p:sp>
        <p:nvSpPr>
          <p:cNvPr id="11" name="role:body|id:section-1">
            <a:extLst>
              <a:ext uri="{FF2B5EF4-FFF2-40B4-BE49-F238E27FC236}">
                <ns2:creationId id="{8EB84CB9-9F22-43DF-A9A7-021F1603BD95}"/>
              </a:ext>
            </a:extLst>
          </p:cNvPr>
          <p:cNvSpPr>
            <a:spLocks noGrp="1"/>
          </p:cNvSpPr>
          <p:nvPr/>
        </p:nvSpPr>
        <p:spPr>
          <a:xfrm>
            <a:off x="457200" y="2313432"/>
            <a:ext cx="70408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02  Proposed workflow</a:t>
            </a:r>
          </a:p>
        </p:txBody>
      </p:sp>
      <p:sp>
        <p:nvSpPr>
          <p:cNvPr id="12" name="role:label|id:section-desc-1">
            <a:extLst>
              <a:ext uri="{FF2B5EF4-FFF2-40B4-BE49-F238E27FC236}">
                <ns2:creationId id="{C2BD776F-E086-48E1-B7E2-195908A4478D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6629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Concept device, interface and selection</a:t>
            </a:r>
          </a:p>
        </p:txBody>
      </p:sp>
      <p:sp>
        <p:nvSpPr>
          <p:cNvPr id="13" name="role:label|id:range-1">
            <a:extLst>
              <a:ext uri="{FF2B5EF4-FFF2-40B4-BE49-F238E27FC236}">
                <ns2:creationId id="{7EFF9D41-8CA9-4B5F-808A-49EC9B711F79}"/>
              </a:ext>
            </a:extLst>
          </p:cNvPr>
          <p:cNvSpPr>
            <a:spLocks noGrp="1"/>
          </p:cNvSpPr>
          <p:nvPr/>
        </p:nvSpPr>
        <p:spPr>
          <a:xfrm>
            <a:off x="7772400" y="2313432"/>
            <a:ext cx="914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5–7</a:t>
            </a:r>
          </a:p>
        </p:txBody>
      </p:sp>
      <p:sp>
        <p:nvSpPr>
          <p:cNvPr id="14" name="role:body|id:section-2">
            <a:extLst>
              <a:ext uri="{FF2B5EF4-FFF2-40B4-BE49-F238E27FC236}">
                <ns2:creationId id="{72D4EDBF-0523-4FD7-A8B8-18BC6C1F5822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70408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03  Synthetic evidence and next study</a:t>
            </a:r>
          </a:p>
        </p:txBody>
      </p:sp>
      <p:sp>
        <p:nvSpPr>
          <p:cNvPr id="15" name="role:label|id:section-desc-2">
            <a:extLst>
              <a:ext uri="{FF2B5EF4-FFF2-40B4-BE49-F238E27FC236}">
                <ns2:creationId id="{ED0891B3-699C-41C7-AB30-29AE09E68D98}"/>
              </a:ext>
            </a:extLst>
          </p:cNvPr>
          <p:cNvSpPr>
            <a:spLocks noGrp="1"/>
          </p:cNvSpPr>
          <p:nvPr/>
        </p:nvSpPr>
        <p:spPr>
          <a:xfrm>
            <a:off x="868680" y="3666744"/>
            <a:ext cx="6629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One trace, followed by a planned test</a:t>
            </a:r>
          </a:p>
        </p:txBody>
      </p:sp>
      <p:sp>
        <p:nvSpPr>
          <p:cNvPr id="16" name="role:label|id:range-2">
            <a:extLst>
              <a:ext uri="{FF2B5EF4-FFF2-40B4-BE49-F238E27FC236}">
                <ns2:creationId id="{25F5534C-E8E3-4685-A86F-DA737B44634D}"/>
              </a:ext>
            </a:extLst>
          </p:cNvPr>
          <p:cNvSpPr>
            <a:spLocks noGrp="1"/>
          </p:cNvSpPr>
          <p:nvPr/>
        </p:nvSpPr>
        <p:spPr>
          <a:xfrm>
            <a:off x="7772400" y="3273552"/>
            <a:ext cx="914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8–9</a:t>
            </a:r>
          </a:p>
        </p:txBody>
      </p:sp>
    </p:spTree>
    <p:extLst>
      <p:ext uri="{BB962C8B-B14F-4D97-AF65-F5344CB8AC3E}">
        <ns4:creationId val="126739426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role:header|id:chapter">
            <a:extLst>
              <a:ext uri="{FF2B5EF4-FFF2-40B4-BE49-F238E27FC236}">
                <ns2:creationId id="{D6C9EBC5-8A2E-4411-A149-67B8335E6C6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Question and alternatives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8334777D-73C6-4B47-AB41-A64E7B6D9019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EFFE176E-BBDB-48F9-BA55-2BD30F5F427B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A short change can fall between samples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F518700C-FE25-4E83-8472-69FEC9BFC5B0}"/>
              </a:ext>
            </a:extLst>
          </p:cNvPr>
          <p:cNvPicPr>
            <a:picLocks noChangeAspect="1"/>
          </p:cNvPicPr>
          <p:nvPr/>
        </p:nvPicPr>
        <p:blipFill>
          <a:blip ns3:embed="R27f3b3ead1964fb6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9E80CF3B-5A46-4B95-AF81-7F62AE33097F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BFAAE2AE-8CA6-47B6-941A-5CFF0C4497E1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6273759E-6EC2-4D4F-9E02-FCD8920A4EE1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8" name="role:source|id:sources">
            <a:extLst>
              <a:ext uri="{FF2B5EF4-FFF2-40B4-BE49-F238E27FC236}">
                <ns2:creationId id="{553A5742-F7D6-4AFD-B08F-5B4D76CFDC25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Synthetic classroom trace, supplied teaching input (2026).</a:t>
            </a:r>
          </a:p>
        </p:txBody>
      </p:sp>
      <p:sp>
        <p:nvSpPr>
          <p:cNvPr id="9" name="role:body|id:premise">
            <a:extLst>
              <a:ext uri="{FF2B5EF4-FFF2-40B4-BE49-F238E27FC236}">
                <ns2:creationId id="{014EC716-648F-49E0-B44D-4311AE0E7082}"/>
              </a:ext>
            </a:extLst>
          </p:cNvPr>
          <p:cNvSpPr>
            <a:spLocks noGrp="1"/>
          </p:cNvSpPr>
          <p:nvPr/>
        </p:nvSpPr>
        <p:spPr>
          <a:xfrm>
            <a:off x="640080" y="1444752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Fewer stored readings reduce the size of a log.</a:t>
            </a:r>
          </a:p>
        </p:txBody>
      </p:sp>
      <p:sp>
        <p:nvSpPr>
          <p:cNvPr id="10" name="role:question|id:question">
            <a:extLst>
              <a:ext uri="{FF2B5EF4-FFF2-40B4-BE49-F238E27FC236}">
                <ns2:creationId id="{79D80F0B-B05D-49D4-A1CB-408A112C2DCF}"/>
              </a:ext>
            </a:extLst>
          </p:cNvPr>
          <p:cNvSpPr>
            <a:spLocks noGrp="1"/>
          </p:cNvSpPr>
          <p:nvPr/>
        </p:nvSpPr>
        <p:spPr>
          <a:xfrm>
            <a:off x="640080" y="2221992"/>
            <a:ext cx="7772400" cy="2194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Which brief changes remain</a:t>
            </a:r>
          </a:p>
          <a:p>
            <a: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when we keep fewer readings?</a:t>
            </a:r>
          </a:p>
        </p:txBody>
      </p:sp>
    </p:spTree>
    <p:extLst>
      <p:ext uri="{BB962C8B-B14F-4D97-AF65-F5344CB8AC3E}">
        <ns4:creationId val="91055148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role:header|id:chapter">
            <a:extLst>
              <a:ext uri="{FF2B5EF4-FFF2-40B4-BE49-F238E27FC236}">
                <ns2:creationId id="{F7C1ED10-2940-4C82-8D8C-B9F9E7986E84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Question and alternatives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B7B072BF-BFB0-4C3A-8A95-227179D700DE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E856901A-F060-464A-BD00-389B5C638D1A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Choose what the recording rule preserves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53084505-71F0-403F-A925-7E8CDA1F4A86}"/>
              </a:ext>
            </a:extLst>
          </p:cNvPr>
          <p:cNvPicPr>
            <a:picLocks noChangeAspect="1"/>
          </p:cNvPicPr>
          <p:nvPr/>
        </p:nvPicPr>
        <p:blipFill>
          <a:blip ns3:embed="R5e4597c48baf43d7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6100B91E-6433-4EA4-A9FC-658E812BE3E5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BB13E4B0-122C-4149-AED6-C5A6C1DCDD65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87B0E9C8-1803-42E1-BB0F-47492DC1E7C7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" name="role:source|id:sources">
            <a:extLst>
              <a:ext uri="{FF2B5EF4-FFF2-40B4-BE49-F238E27FC236}">
                <ns2:creationId id="{C9E8DD17-5ED3-46D1-8E7E-65380B745FA6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Synthetic teaching specification; alternatives are design options.</a:t>
            </a:r>
          </a:p>
        </p:txBody>
      </p:sp>
      <p:graphicFrame>
        <p:nvGraphicFramePr>
          <p:cNvPr id="9" name="role:table|id:main-table">
            <a:extLst>
              <a:ext uri="{FF2B5EF4-FFF2-40B4-BE49-F238E27FC236}">
                <ns2:creationId id="{C655D481-800E-45F6-8555-24EA59AA00BB}"/>
              </a:ext>
            </a:extLst>
          </p:cNvPr>
          <p:cNvGraphicFramePr/>
          <p:nvPr/>
        </p:nvGraphicFramePr>
        <p:xfrm>
          <a:off x="457200" y="1353312"/>
          <a:ext cx="8229600" cy="3108960"/>
        </p:xfrm>
        <a:graphic>
          <a:graphicData uri="http://schemas.openxmlformats.org/drawingml/2006/table">
            <a:tbl>
              <a:tblPr/>
              <a:tblGrid>
                <a:gridCol w="1874520"/>
                <a:gridCol w="1920240"/>
                <a:gridCol w="2103120"/>
                <a:gridCol w="2331720"/>
              </a:tblGrid>
              <a:tr h="621792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Rule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Keeps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May omit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Evidence needed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</a:tr>
              <a:tr h="621792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Fixed interval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Regular samples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Changes between samples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Duration and phase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Threshold crossing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crossing event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Context below threshold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Noise sensitivity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Change-triggered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Large differences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Slow changes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Choice of threshold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Combined rule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Events and context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Unobserved detail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Storage and fidelity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4:creationId val="785886629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role:header|id:chapter">
            <a:extLst>
              <a:ext uri="{FF2B5EF4-FFF2-40B4-BE49-F238E27FC236}">
                <ns2:creationId id="{560C5B0A-7B5B-46AD-B60F-6C886E04834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Proposed workflow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2708D481-C49A-4CDD-A87F-8B1E7526ACDC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EEB5B6DD-EE03-4476-8182-191926E55A77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Two concept components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AEF33382-FE51-491B-884E-B15F9F744326}"/>
              </a:ext>
            </a:extLst>
          </p:cNvPr>
          <p:cNvPicPr>
            <a:picLocks noChangeAspect="1"/>
          </p:cNvPicPr>
          <p:nvPr/>
        </p:nvPicPr>
        <p:blipFill>
          <a:blip ns3:embed="Rd083990b10cd416e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3A32071D-803C-43B5-9C3F-82972D291F69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3697E87B-2073-4AC3-8EE4-4D60B58DC886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B883598F-D233-4F6A-B9EB-AFB5C3E6F2C5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8" name="role:body|id:message">
            <a:extLst>
              <a:ext uri="{FF2B5EF4-FFF2-40B4-BE49-F238E27FC236}">
                <ns2:creationId id="{4E189EF5-4091-4FF2-B2D7-ADDA56F92098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Generated concepts illustrate roles; neither is a tested prototype.</a:t>
            </a:r>
          </a:p>
        </p:txBody>
      </p:sp>
      <p:pic>
        <p:nvPicPr>
          <p:cNvPr id="9" name="role:image|id:photo-0">
            <a:extLst>
              <a:ext uri="{FF2B5EF4-FFF2-40B4-BE49-F238E27FC236}">
                <ns2:creationId id="{BBA3E53A-10B4-4F4B-B9FA-BD1D0E07730C}"/>
              </a:ext>
            </a:extLst>
          </p:cNvPr>
          <p:cNvPicPr>
            <a:picLocks noChangeAspect="1"/>
          </p:cNvPicPr>
          <p:nvPr/>
        </p:nvPicPr>
        <p:blipFill>
          <a:blip ns3:embed="R4d0210a3f35d46df"/>
          <a:stretch/>
        </p:blipFill>
        <p:spPr>
          <a:xfrm>
            <a:off x="1372057" y="1993392"/>
            <a:ext cx="2147926" cy="1431950"/>
          </a:xfrm>
          <a:prstGeom prst="rect">
            <a:avLst/>
          </a:prstGeom>
        </p:spPr>
      </p:pic>
      <p:sp>
        <p:nvSpPr>
          <p:cNvPr id="10" name="role:label|id:photo-title-0">
            <a:extLst>
              <a:ext uri="{FF2B5EF4-FFF2-40B4-BE49-F238E27FC236}">
                <ns2:creationId id="{FBF71792-C01E-495E-8BFF-E731429F8C63}"/>
              </a:ext>
            </a:extLst>
          </p:cNvPr>
          <p:cNvSpPr>
            <a:spLocks noGrp="1"/>
          </p:cNvSpPr>
          <p:nvPr/>
        </p:nvSpPr>
        <p:spPr>
          <a:xfrm>
            <a:off x="457200" y="3524098"/>
            <a:ext cx="397764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Sense the room</a:t>
            </a:r>
          </a:p>
        </p:txBody>
      </p:sp>
      <p:sp>
        <p:nvSpPr>
          <p:cNvPr id="11" name="role:label|id:photo-description-0">
            <a:extLst>
              <a:ext uri="{FF2B5EF4-FFF2-40B4-BE49-F238E27FC236}">
                <ns2:creationId id="{0390D6E0-6ECD-4BD8-B223-3172A9B33E3F}"/>
              </a:ext>
            </a:extLst>
          </p:cNvPr>
          <p:cNvSpPr>
            <a:spLocks noGrp="1"/>
          </p:cNvSpPr>
          <p:nvPr/>
        </p:nvSpPr>
        <p:spPr>
          <a:xfrm>
            <a:off x="457200" y="3919118"/>
            <a:ext cx="3977640" cy="543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Collect a time series.</a:t>
            </a:r>
          </a:p>
        </p:txBody>
      </p:sp>
      <p:pic>
        <p:nvPicPr>
          <p:cNvPr id="12" name="role:image|id:photo-1">
            <a:extLst>
              <a:ext uri="{FF2B5EF4-FFF2-40B4-BE49-F238E27FC236}">
                <ns2:creationId id="{2DC84760-FAAD-4B44-968D-5C42418811AD}"/>
              </a:ext>
            </a:extLst>
          </p:cNvPr>
          <p:cNvPicPr>
            <a:picLocks noChangeAspect="1"/>
          </p:cNvPicPr>
          <p:nvPr/>
        </p:nvPicPr>
        <p:blipFill>
          <a:blip ns3:embed="R0a8b653ab3754611"/>
          <a:stretch/>
        </p:blipFill>
        <p:spPr>
          <a:xfrm>
            <a:off x="5624017" y="1993392"/>
            <a:ext cx="2147926" cy="1431950"/>
          </a:xfrm>
          <a:prstGeom prst="rect">
            <a:avLst/>
          </a:prstGeom>
        </p:spPr>
      </p:pic>
      <p:sp>
        <p:nvSpPr>
          <p:cNvPr id="13" name="role:label|id:photo-title-1">
            <a:extLst>
              <a:ext uri="{FF2B5EF4-FFF2-40B4-BE49-F238E27FC236}">
                <ns2:creationId id="{C5540BD7-442F-4C99-86C6-5DF273F0080E}"/>
              </a:ext>
            </a:extLst>
          </p:cNvPr>
          <p:cNvSpPr>
            <a:spLocks noGrp="1"/>
          </p:cNvSpPr>
          <p:nvPr/>
        </p:nvSpPr>
        <p:spPr>
          <a:xfrm>
            <a:off x="4709160" y="3524098"/>
            <a:ext cx="397764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Review the log</a:t>
            </a:r>
          </a:p>
        </p:txBody>
      </p:sp>
      <p:sp>
        <p:nvSpPr>
          <p:cNvPr id="14" name="role:label|id:photo-description-1">
            <a:extLst>
              <a:ext uri="{FF2B5EF4-FFF2-40B4-BE49-F238E27FC236}">
                <ns2:creationId id="{5C43760A-23D3-4AEB-A613-19ED5212F602}"/>
              </a:ext>
            </a:extLst>
          </p:cNvPr>
          <p:cNvSpPr>
            <a:spLocks noGrp="1"/>
          </p:cNvSpPr>
          <p:nvPr/>
        </p:nvSpPr>
        <p:spPr>
          <a:xfrm>
            <a:off x="4709160" y="3919118"/>
            <a:ext cx="3977640" cy="543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Inspect what was retained.</a:t>
            </a:r>
          </a:p>
        </p:txBody>
      </p:sp>
    </p:spTree>
    <p:extLst>
      <p:ext uri="{BB962C8B-B14F-4D97-AF65-F5344CB8AC3E}">
        <ns4:creationId val="84014190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role:header|id:chapter">
            <a:extLst>
              <a:ext uri="{FF2B5EF4-FFF2-40B4-BE49-F238E27FC236}">
                <ns2:creationId id="{704F386F-64DB-440E-B242-DC1E0E9DFD5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Proposed workflow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3B28E274-969A-4ECD-8983-FB5DF5B723EF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023154E1-934C-412E-95F0-F8D066BCF96D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Choose the recording interval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4692124B-0EC1-45A1-AA8D-12F5BA972465}"/>
              </a:ext>
            </a:extLst>
          </p:cNvPr>
          <p:cNvPicPr>
            <a:picLocks noChangeAspect="1"/>
          </p:cNvPicPr>
          <p:nvPr/>
        </p:nvPicPr>
        <p:blipFill>
          <a:blip ns3:embed="Rfc15d88099c74fc0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89F98B4F-F9A4-47E0-84C8-4AC843B2ABC1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7D3C61A3-0BBA-4432-A5B6-1BF7ED804BAB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EA178257-2A52-4AEA-85AE-BCCCB0D194BD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8" name="role:body|id:message">
            <a:extLst>
              <a:ext uri="{FF2B5EF4-FFF2-40B4-BE49-F238E27FC236}">
                <ns2:creationId id="{01BCB752-0EAB-42ED-82D2-36563ECF8AB0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Concept interface; no working application is claimed.</a:t>
            </a:r>
          </a:p>
        </p:txBody>
      </p:sp>
      <p:pic>
        <p:nvPicPr>
          <p:cNvPr id="9" name="role:image|id:ui">
            <a:extLst>
              <a:ext uri="{FF2B5EF4-FFF2-40B4-BE49-F238E27FC236}">
                <ns2:creationId id="{1EFAEEE0-F30A-4D5F-8211-BDC1AC862FAF}"/>
              </a:ext>
            </a:extLst>
          </p:cNvPr>
          <p:cNvPicPr>
            <a:picLocks noChangeAspect="1"/>
          </p:cNvPicPr>
          <p:nvPr/>
        </p:nvPicPr>
        <p:blipFill>
          <a:blip ns3:embed="R307277ba9ded474e"/>
          <a:stretch/>
        </p:blipFill>
        <p:spPr>
          <a:xfrm>
            <a:off x="1280160" y="1993392"/>
            <a:ext cx="1645920" cy="2468880"/>
          </a:xfrm>
          <a:prstGeom prst="rect">
            <a:avLst/>
          </a:prstGeom>
        </p:spPr>
      </p:pic>
      <p:sp>
        <p:nvSpPr>
          <p:cNvPr id="10" name="role:body|id:step-0">
            <a:extLst>
              <a:ext uri="{FF2B5EF4-FFF2-40B4-BE49-F238E27FC236}">
                <ns2:creationId id="{745F1E9E-0EE2-4AB6-8DB0-4CBF8A82EAE3}"/>
              </a:ext>
            </a:extLst>
          </p:cNvPr>
          <p:cNvSpPr>
            <a:spLocks noGrp="1"/>
          </p:cNvSpPr>
          <p:nvPr/>
        </p:nvSpPr>
        <p:spPr>
          <a:xfrm>
            <a:off x="4114800" y="1993392"/>
            <a:ext cx="457200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Select an interval before recording.</a:t>
            </a:r>
          </a:p>
        </p:txBody>
      </p:sp>
      <p:sp>
        <p:nvSpPr>
          <p:cNvPr id="11" name="role:body|id:step-1">
            <a:extLst>
              <a:ext uri="{FF2B5EF4-FFF2-40B4-BE49-F238E27FC236}">
                <ns2:creationId id="{395999C2-9226-4E8F-AE6D-FE73D0E6E9CF}"/>
              </a:ext>
            </a:extLst>
          </p:cNvPr>
          <p:cNvSpPr>
            <a:spLocks noGrp="1"/>
          </p:cNvSpPr>
          <p:nvPr/>
        </p:nvSpPr>
        <p:spPr>
          <a:xfrm>
            <a:off x="4114800" y="2816352"/>
            <a:ext cx="457200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Export the retained log for inspection.</a:t>
            </a:r>
          </a:p>
        </p:txBody>
      </p:sp>
      <p:sp>
        <p:nvSpPr>
          <p:cNvPr id="12" name="role:body|id:step-2">
            <a:extLst>
              <a:ext uri="{FF2B5EF4-FFF2-40B4-BE49-F238E27FC236}">
                <ns2:creationId id="{B31EEDA3-7270-44DE-80E9-5CA006076F53}"/>
              </a:ext>
            </a:extLst>
          </p:cNvPr>
          <p:cNvSpPr>
            <a:spLocks noGrp="1"/>
          </p:cNvSpPr>
          <p:nvPr/>
        </p:nvSpPr>
        <p:spPr>
          <a:xfrm>
            <a:off x="4114800" y="3639312"/>
            <a:ext cx="457200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Keep the interval with the data so comparisons use the same conditions.</a:t>
            </a:r>
          </a:p>
        </p:txBody>
      </p:sp>
    </p:spTree>
    <p:extLst>
      <p:ext uri="{BB962C8B-B14F-4D97-AF65-F5344CB8AC3E}">
        <ns4:creationId val="91084424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4" name="role:diagram-edge|id:to-event">
            <a:extLst>
              <a:ext uri="{FF2B5EF4-FFF2-40B4-BE49-F238E27FC236}">
                <ns2:creationId id="{5114CAED-F87F-4A7F-A38C-819ED858B3B9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4434840" y="2400300"/>
            <a:ext cx="1051560" cy="822960"/>
          </a:xfrm>
          <a:prstGeom prst="straightConnector1">
            <a:avLst/>
          </a:prstGeom>
          <a:ln w="15240">
            <a:solidFill>
              <a:srgbClr val="38761D"/>
            </a:solidFill>
            <a:headEnd type="none" w="med" len="med"/>
            <a:tailEnd type="triangle" w="sm" len="sm"/>
          </a:ln>
        </p:spPr>
      </p:cxnSp>
      <p:cxnSp>
        <p:nvCxnSpPr>
          <p:cNvPr id="13" name="role:diagram-edge|id:to-regular">
            <a:extLst>
              <a:ext uri="{FF2B5EF4-FFF2-40B4-BE49-F238E27FC236}">
                <ns2:creationId id="{E8878AF3-1040-4BD4-BBFD-A2320EA011B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4434840" y="1851660"/>
            <a:ext cx="1051560" cy="548640"/>
          </a:xfrm>
          <a:prstGeom prst="straightConnector1">
            <a:avLst/>
          </a:prstGeom>
          <a:ln w="15240">
            <a:solidFill>
              <a:srgbClr val="38761D"/>
            </a:solidFill>
            <a:headEnd type="none" w="med" len="med"/>
            <a:tailEnd type="triangle" w="sm" len="sm"/>
          </a:ln>
        </p:spPr>
      </p:cxnSp>
      <p:cxnSp>
        <p:nvCxnSpPr>
          <p:cNvPr id="12" name="role:diagram-edge|id:to-choice">
            <a:extLst>
              <a:ext uri="{FF2B5EF4-FFF2-40B4-BE49-F238E27FC236}">
                <ns2:creationId id="{44944E68-5D8F-46B5-B3EC-45FAD622437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103120" y="2400300"/>
            <a:ext cx="685800" cy="0"/>
          </a:xfrm>
          <a:prstGeom prst="straightConnector1">
            <a:avLst/>
          </a:prstGeom>
          <a:ln w="15240">
            <a:solidFill>
              <a:srgbClr val="38761D"/>
            </a:solidFill>
            <a:headEnd type="none" w="med" len="med"/>
            <a:tailEnd type="triangle" w="sm" len="sm"/>
          </a:ln>
        </p:spPr>
      </p:cxnSp>
      <p:sp>
        <p:nvSpPr>
          <p:cNvPr id="16" name="role:header|id:chapter">
            <a:extLst>
              <a:ext uri="{FF2B5EF4-FFF2-40B4-BE49-F238E27FC236}">
                <ns2:creationId id="{B2C5A758-AFB5-43CE-8FE1-49E83915466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Proposed workflow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625EE76B-748E-4AD1-BBE9-45C9A473BB8A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3F8D01E4-A64F-4DD6-A48C-C85BBB956047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Select a rule before retaining data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7B34C135-C5D6-44D0-8A21-0A2B5902BAAD}"/>
              </a:ext>
            </a:extLst>
          </p:cNvPr>
          <p:cNvPicPr>
            <a:picLocks noChangeAspect="1"/>
          </p:cNvPicPr>
          <p:nvPr/>
        </p:nvPicPr>
        <p:blipFill>
          <a:blip ns3:embed="R0b9ca0227e724dee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971501D5-9A97-4562-8830-76DA804FB7C2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AAF1736D-1712-474E-B020-12C727AB242E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D391965A-8BFC-498B-8ED9-85FB33C7DBB4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8" name="role:diagram-node|id:input">
            <a:extLst>
              <a:ext uri="{FF2B5EF4-FFF2-40B4-BE49-F238E27FC236}">
                <ns2:creationId id="{CC9024A0-AA7B-480C-B56F-35D083B8ADE8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1645920" cy="685800"/>
          </a:xfrm>
          <a:prstGeom prst="rect">
            <a:avLst/>
          </a:prstGeom>
          <a:solidFill>
            <a:srgbClr val="EDF4E8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Input trace</a:t>
            </a:r>
          </a:p>
        </p:txBody>
      </p:sp>
      <p:sp>
        <p:nvSpPr>
          <p:cNvPr id="9" name="role:diagram-node|id:decision">
            <a:extLst>
              <a:ext uri="{FF2B5EF4-FFF2-40B4-BE49-F238E27FC236}">
                <ns2:creationId id="{EF862D3F-963C-4334-A3E9-D8E72BF74A48}"/>
              </a:ext>
            </a:extLst>
          </p:cNvPr>
          <p:cNvSpPr>
            <a:spLocks noGrp="1"/>
          </p:cNvSpPr>
          <p:nvPr/>
        </p:nvSpPr>
        <p:spPr>
          <a:xfrm>
            <a:off x="2788920" y="2057400"/>
            <a:ext cx="1645920" cy="685800"/>
          </a:xfrm>
          <a:prstGeom prst="rect">
            <a:avLst/>
          </a:prstGeom>
          <a:solidFill>
            <a:srgbClr val="EDF4E8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Choose rule</a:t>
            </a:r>
          </a:p>
        </p:txBody>
      </p:sp>
      <p:sp>
        <p:nvSpPr>
          <p:cNvPr id="10" name="role:diagram-node|id:regular">
            <a:extLst>
              <a:ext uri="{FF2B5EF4-FFF2-40B4-BE49-F238E27FC236}">
                <ns2:creationId id="{61DCAAE2-8C6F-42C5-AEC3-2A74A02782F4}"/>
              </a:ext>
            </a:extLst>
          </p:cNvPr>
          <p:cNvSpPr>
            <a:spLocks noGrp="1"/>
          </p:cNvSpPr>
          <p:nvPr/>
        </p:nvSpPr>
        <p:spPr>
          <a:xfrm>
            <a:off x="5486400" y="1508760"/>
            <a:ext cx="2743200" cy="685800"/>
          </a:xfrm>
          <a:prstGeom prst="rect">
            <a:avLst/>
          </a:prstGeom>
          <a:solidFill>
            <a:srgbClr val="EDF4E8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Regular samples</a:t>
            </a:r>
          </a:p>
        </p:txBody>
      </p:sp>
      <p:sp>
        <p:nvSpPr>
          <p:cNvPr id="11" name="role:diagram-node|id:event">
            <a:extLst>
              <a:ext uri="{FF2B5EF4-FFF2-40B4-BE49-F238E27FC236}">
                <ns2:creationId id="{8934EF76-5EB0-484E-8D09-285F922773DB}"/>
              </a:ext>
            </a:extLst>
          </p:cNvPr>
          <p:cNvSpPr>
            <a:spLocks noGrp="1"/>
          </p:cNvSpPr>
          <p:nvPr/>
        </p:nvSpPr>
        <p:spPr>
          <a:xfrm>
            <a:off x="5486400" y="2880360"/>
            <a:ext cx="2743200" cy="685800"/>
          </a:xfrm>
          <a:prstGeom prst="rect">
            <a:avLst/>
          </a:prstGeom>
          <a:solidFill>
            <a:srgbClr val="EDF4E8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Event samples</a:t>
            </a:r>
          </a:p>
        </p:txBody>
      </p:sp>
      <p:sp>
        <p:nvSpPr>
          <p:cNvPr id="15" name="role:body|id:caption">
            <a:extLst>
              <a:ext uri="{FF2B5EF4-FFF2-40B4-BE49-F238E27FC236}">
                <ns2:creationId id="{E78FF6F8-03C1-4BA3-B007-6D940FCD8256}"/>
              </a:ext>
            </a:extLst>
          </p:cNvPr>
          <p:cNvSpPr>
            <a:spLocks noGrp="1"/>
          </p:cNvSpPr>
          <p:nvPr/>
        </p:nvSpPr>
        <p:spPr>
          <a:xfrm>
            <a:off x="457200" y="3867912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Arrows show processing choices, not a causal effect.</a:t>
            </a:r>
          </a:p>
        </p:txBody>
      </p:sp>
    </p:spTree>
    <p:extLst>
      <p:ext uri="{BB962C8B-B14F-4D97-AF65-F5344CB8AC3E}">
        <ns4:creationId val="1921049068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3="http://schemas.openxmlformats.org/officeDocument/2006/relationships" xmlns:ns5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role:header|id:chapter">
            <a:extLst>
              <a:ext uri="{FF2B5EF4-FFF2-40B4-BE49-F238E27FC236}">
                <ns2:creationId id="{9DB8716B-9E9C-4C9D-9692-704A78516078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Synthetic evidence and next study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0DD087D2-7569-4DA8-B0E1-92BBB37FF7F0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22ABDCEC-5E73-4F92-A871-BDEB907E8F8F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Sparse samples miss one peak in this trace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F8309918-BB87-4464-AAAA-6B6E2E1F19A0}"/>
              </a:ext>
            </a:extLst>
          </p:cNvPr>
          <p:cNvPicPr>
            <a:picLocks noChangeAspect="1"/>
          </p:cNvPicPr>
          <p:nvPr/>
        </p:nvPicPr>
        <p:blipFill>
          <a:blip ns3:embed="Rdf3ea5274e014653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66EEB6E8-6381-4969-A689-7AA8103CCBC8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BB5FCCF9-53D9-46E8-BB45-0F7D13F47ECE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ADA02100-F679-413F-84E6-4028CE157724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" name="role:source|id:sources">
            <a:extLst>
              <a:ext uri="{FF2B5EF4-FFF2-40B4-BE49-F238E27FC236}">
                <ns2:creationId id="{5FEDEF1B-B8A7-47CA-94FB-F5F7AF421564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Synthetic values in input.json; retained values use the last recorded sample.</a:t>
            </a:r>
          </a:p>
        </p:txBody>
      </p:sp>
      <p:sp>
        <p:nvSpPr>
          <p:cNvPr id="9" name="role:label|id:chart-scope">
            <a:extLst>
              <a:ext uri="{FF2B5EF4-FFF2-40B4-BE49-F238E27FC236}">
                <ns2:creationId id="{B77E78A4-B7E9-464B-B47A-833DD5810AA0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One synthetic trace · last retained value at each time · ppm</a:t>
            </a:r>
          </a:p>
        </p:txBody>
      </p:sp>
      <p:graphicFrame>
        <p:nvGraphicFramePr>
          <p:cNvPr id="10" name="role:chart|id:main-chart">
            <a:extLst>
              <a:ext uri="{FF2B5EF4-FFF2-40B4-BE49-F238E27FC236}">
                <ns2:creationId id="{1581D5C1-8FFC-4E7E-9C69-1378EAF3D1A1}"/>
              </a:ext>
            </a:extLst>
          </p:cNvPr>
          <p:cNvGraphicFramePr/>
          <p:nvPr/>
        </p:nvGraphicFramePr>
        <p:xfrm>
          <a:off x="457200" y="1993392"/>
          <a:ext cx="8229600" cy="1828800"/>
        </p:xfrm>
        <a:graphic>
          <a:graphicData uri="http://schemas.openxmlformats.org/drawingml/2006/chart">
            <c:chart ns3:id="R6e3fbb12747f4bf9"/>
          </a:graphicData>
        </a:graphic>
      </p:graphicFrame>
      <p:sp>
        <p:nvSpPr>
          <p:cNvPr id="11" name="role:body|id:interpretation">
            <a:extLst>
              <a:ext uri="{FF2B5EF4-FFF2-40B4-BE49-F238E27FC236}">
                <ns2:creationId id="{D04859D5-BA4B-4DFC-83A5-2191CF3E77A1}"/>
              </a:ext>
            </a:extLst>
          </p:cNvPr>
          <p:cNvSpPr>
            <a:spLocks noGrp="1"/>
          </p:cNvSpPr>
          <p:nvPr/>
        </p:nvSpPr>
        <p:spPr>
          <a:xfrm>
            <a:off x="457200" y="3867912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The retained representation never reaches the synthetic peak of 1140 ppm.</a:t>
            </a:r>
          </a:p>
        </p:txBody>
      </p:sp>
    </p:spTree>
    <p:extLst>
      <p:ext uri="{BB962C8B-B14F-4D97-AF65-F5344CB8AC3E}">
        <ns5:creationId val="32715127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role:header|id:chapter">
            <a:extLst>
              <a:ext uri="{FF2B5EF4-FFF2-40B4-BE49-F238E27FC236}">
                <ns2:creationId id="{B6A1A020-861D-46EA-9B19-D15613B674C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Synthetic evidence and next study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7363B40A-7EFA-4EC3-ADF8-DE0FBB0B9022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2111970B-D814-49A9-A600-B1D4BEB1C6C6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Planned comparison across varied traces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987C9684-6EA7-4B23-8768-DC2D065E3610}"/>
              </a:ext>
            </a:extLst>
          </p:cNvPr>
          <p:cNvPicPr>
            <a:picLocks noChangeAspect="1"/>
          </p:cNvPicPr>
          <p:nvPr/>
        </p:nvPicPr>
        <p:blipFill>
          <a:blip ns3:embed="R3aeed96c58804612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8A9AA139-4BB3-416F-A332-D799F4735478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EC9021B5-B559-4FBF-98CC-F2747BA62BBC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8BE8AB30-71F1-49D9-B442-4B89AB63B1A4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8" name="role:body|id:message">
            <a:extLst>
              <a:ext uri="{FF2B5EF4-FFF2-40B4-BE49-F238E27FC236}">
                <ns2:creationId id="{FAEB6C71-3B75-4EF9-8810-0A63D274B0AC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Planned evaluation; no results are available.</a:t>
            </a:r>
          </a:p>
        </p:txBody>
      </p:sp>
      <p:sp>
        <p:nvSpPr>
          <p:cNvPr id="9" name="role:body|id:condition-title-0">
            <a:extLst>
              <a:ext uri="{FF2B5EF4-FFF2-40B4-BE49-F238E27FC236}">
                <ns2:creationId id="{77AF91B6-677F-4A90-BB3C-367F5BA1605F}"/>
              </a:ext>
            </a:extLst>
          </p:cNvPr>
          <p:cNvSpPr>
            <a:spLocks noGrp="1"/>
          </p:cNvSpPr>
          <p:nvPr/>
        </p:nvSpPr>
        <p:spPr>
          <a:xfrm>
            <a:off x="457200" y="1993392"/>
            <a:ext cx="39776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Fixed intervals</a:t>
            </a:r>
          </a:p>
        </p:txBody>
      </p:sp>
      <p:sp>
        <p:nvSpPr>
          <p:cNvPr id="10" name="role:body|id:condition-body-0">
            <a:extLst>
              <a:ext uri="{FF2B5EF4-FFF2-40B4-BE49-F238E27FC236}">
                <ns2:creationId id="{8FC086AD-E196-45C5-AA5D-455701B2FDE0}"/>
              </a:ext>
            </a:extLst>
          </p:cNvPr>
          <p:cNvSpPr>
            <a:spLocks noGrp="1"/>
          </p:cNvSpPr>
          <p:nvPr/>
        </p:nvSpPr>
        <p:spPr>
          <a:xfrm>
            <a:off x="457200" y="2587752"/>
            <a:ext cx="3977640" cy="1874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Apply the same intervals to each trace.</a:t>
            </a:r>
          </a:p>
          <a:p>
            <a:r>
              <a:t/>
            </a:r>
          </a:p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Record storage size and omitted peaks.</a:t>
            </a:r>
          </a:p>
        </p:txBody>
      </p:sp>
      <p:sp>
        <p:nvSpPr>
          <p:cNvPr id="11" name="role:body|id:condition-title-1">
            <a:extLst>
              <a:ext uri="{FF2B5EF4-FFF2-40B4-BE49-F238E27FC236}">
                <ns2:creationId id="{B76848D8-8DED-4E79-9EFF-8008817B6CDC}"/>
              </a:ext>
            </a:extLst>
          </p:cNvPr>
          <p:cNvSpPr>
            <a:spLocks noGrp="1"/>
          </p:cNvSpPr>
          <p:nvPr/>
        </p:nvSpPr>
        <p:spPr>
          <a:xfrm>
            <a:off x="4709160" y="1993392"/>
            <a:ext cx="39776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Change-triggered retention</a:t>
            </a:r>
          </a:p>
        </p:txBody>
      </p:sp>
      <p:sp>
        <p:nvSpPr>
          <p:cNvPr id="12" name="role:body|id:condition-body-1">
            <a:extLst>
              <a:ext uri="{FF2B5EF4-FFF2-40B4-BE49-F238E27FC236}">
                <ns2:creationId id="{90B72AF1-19A1-42E4-A3E0-62C0A5621B4C}"/>
              </a:ext>
            </a:extLst>
          </p:cNvPr>
          <p:cNvSpPr>
            <a:spLocks noGrp="1"/>
          </p:cNvSpPr>
          <p:nvPr/>
        </p:nvSpPr>
        <p:spPr>
          <a:xfrm>
            <a:off x="4709160" y="2587752"/>
            <a:ext cx="3977640" cy="1874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Apply a predefined difference threshold.</a:t>
            </a:r>
          </a:p>
          <a:p>
            <a:r>
              <a:t/>
            </a:r>
          </a:p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Use the same traces and measures.</a:t>
            </a:r>
          </a:p>
        </p:txBody>
      </p:sp>
    </p:spTree>
    <p:extLst>
      <p:ext uri="{BB962C8B-B14F-4D97-AF65-F5344CB8AC3E}">
        <ns4:creationId val="90067319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role:header|id:chapter">
            <a:extLst>
              <a:ext uri="{FF2B5EF4-FFF2-40B4-BE49-F238E27FC236}">
                <ns2:creationId id="{976BC71D-D357-4C70-8C2E-3E1AD192A73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Summary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A26219D1-2F82-42EF-93F7-4809B3F85A6D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9C07DD7B-E4D9-4890-ADF2-44165FDACFBB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A recording rule determines what can be seen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84FD7FCE-29D8-44E5-A30C-1EBED5A042AB}"/>
              </a:ext>
            </a:extLst>
          </p:cNvPr>
          <p:cNvPicPr>
            <a:picLocks noChangeAspect="1"/>
          </p:cNvPicPr>
          <p:nvPr/>
        </p:nvPicPr>
        <p:blipFill>
          <a:blip ns3:embed="Rb8af43b092ac4541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E0B1A3F1-DBB7-4507-B1E7-5B616A899A03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B4B23E94-35FB-4FF7-AA78-12CF6AB25E8E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7766CE06-8FCB-45D2-9732-C350B206DF6D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8" name="role:source|id:sources">
            <a:extLst>
              <a:ext uri="{FF2B5EF4-FFF2-40B4-BE49-F238E27FC236}">
                <ns2:creationId id="{ABC62D43-8C9E-4B9E-964F-BC9B91E43C25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8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Synthetic teaching input; no empirical effectiveness claim.</a:t>
            </a:r>
          </a:p>
        </p:txBody>
      </p:sp>
      <p:sp>
        <p:nvSpPr>
          <p:cNvPr id="9" name="role:label|id:summary-title">
            <a:extLst>
              <a:ext uri="{FF2B5EF4-FFF2-40B4-BE49-F238E27FC236}">
                <ns2:creationId id="{51F38481-8DCE-4958-B4BA-AB1B30F37DE0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445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Recording brief changes</a:t>
            </a:r>
          </a:p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in classroom air</a:t>
            </a:r>
          </a:p>
        </p:txBody>
      </p:sp>
      <p:sp>
        <p:nvSpPr>
          <p:cNvPr id="10" name="role:label|id:summary-author">
            <a:extLst>
              <a:ext uri="{FF2B5EF4-FFF2-40B4-BE49-F238E27FC236}">
                <ns2:creationId id="{40660A0C-A6CF-48C6-AC7A-7CB7750745BD}"/>
              </a:ext>
            </a:extLst>
          </p:cNvPr>
          <p:cNvSpPr>
            <a:spLocks noGrp="1"/>
          </p:cNvSpPr>
          <p:nvPr/>
        </p:nvSpPr>
        <p:spPr>
          <a:xfrm>
            <a:off x="457200" y="1834896"/>
            <a:ext cx="822960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Alex Morgan · Fictional methods laboratory</a:t>
            </a:r>
          </a:p>
        </p:txBody>
      </p:sp>
      <p:sp>
        <p:nvSpPr>
          <p:cNvPr id="11" name="role:body|id:takeaway-0">
            <a:extLst>
              <a:ext uri="{FF2B5EF4-FFF2-40B4-BE49-F238E27FC236}">
                <ns2:creationId id="{DEA864C8-765B-458C-824E-77A5DF920546}"/>
              </a:ext>
            </a:extLst>
          </p:cNvPr>
          <p:cNvSpPr>
            <a:spLocks noGrp="1"/>
          </p:cNvSpPr>
          <p:nvPr/>
        </p:nvSpPr>
        <p:spPr>
          <a:xfrm>
            <a:off x="457200" y="213969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Question: which short changes survive sparse recording?</a:t>
            </a:r>
          </a:p>
        </p:txBody>
      </p:sp>
      <p:sp>
        <p:nvSpPr>
          <p:cNvPr id="12" name="role:body|id:takeaway-1">
            <a:extLst>
              <a:ext uri="{FF2B5EF4-FFF2-40B4-BE49-F238E27FC236}">
                <ns2:creationId id="{EF4B5B38-04B9-49A1-9262-D3EA20A657E1}"/>
              </a:ext>
            </a:extLst>
          </p:cNvPr>
          <p:cNvSpPr>
            <a:spLocks noGrp="1"/>
          </p:cNvSpPr>
          <p:nvPr/>
        </p:nvSpPr>
        <p:spPr>
          <a:xfrm>
            <a:off x="457200" y="256641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Synthetic example: one peak is absent from the retained representation.</a:t>
            </a:r>
          </a:p>
        </p:txBody>
      </p:sp>
      <p:sp>
        <p:nvSpPr>
          <p:cNvPr id="13" name="role:body|id:takeaway-2">
            <a:extLst>
              <a:ext uri="{FF2B5EF4-FFF2-40B4-BE49-F238E27FC236}">
                <ns2:creationId id="{A59EB937-73B2-4D32-872E-B1505450524A}"/>
              </a:ext>
            </a:extLst>
          </p:cNvPr>
          <p:cNvSpPr>
            <a:spLocks noGrp="1"/>
          </p:cNvSpPr>
          <p:nvPr/>
        </p:nvSpPr>
        <p:spPr>
          <a:xfrm>
            <a:off x="457200" y="299313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Next: compare rules across traces before building a prototype.</a:t>
            </a:r>
          </a:p>
        </p:txBody>
      </p:sp>
      <p:sp>
        <p:nvSpPr>
          <p:cNvPr id="14" name="role:label|id:contact">
            <a:extLst>
              <a:ext uri="{FF2B5EF4-FFF2-40B4-BE49-F238E27FC236}">
                <ns2:creationId id="{6F285067-F82E-4CAF-B25F-41981216894B}"/>
              </a:ext>
            </a:extLst>
          </p:cNvPr>
          <p:cNvSpPr>
            <a:spLocks noGrp="1"/>
          </p:cNvSpPr>
          <p:nvPr/>
        </p:nvSpPr>
        <p:spPr>
          <a:xfrm>
            <a:off x="457200" y="4230624"/>
            <a:ext cx="822960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alex.morgan@example.org</a:t>
            </a:r>
          </a:p>
        </p:txBody>
      </p:sp>
    </p:spTree>
    <p:extLst>
      <p:ext uri="{BB962C8B-B14F-4D97-AF65-F5344CB8AC3E}">
        <ns4:creationId val="463491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Alex Morgan · Fictional methods laboratory</dc:creator>
  <cp:lastModifiedBy>Alex Morgan · Fictional methods laboratory</cp:lastModifiedBy>
  <dc:title>Recording brief changes
in classroom air</dc:title>
  <dcterms:created xsi:type="dcterms:W3CDTF">2026-10-20T10:24:08.3640000Z</dcterms:created>
  <dcterms:modified xsi:type="dcterms:W3CDTF">2026-10-20T10:24:08.3640000Z</dcterms:modified>
</cp:coreProperties>
</file>